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Ubuntu" charset="1" panose="020B0504030602030204"/>
      <p:regular r:id="rId30"/>
    </p:embeddedFont>
    <p:embeddedFont>
      <p:font typeface="Ubuntu Bold" charset="1" panose="020B0804030602030204"/>
      <p:regular r:id="rId31"/>
    </p:embeddedFont>
    <p:embeddedFont>
      <p:font typeface="Open Sans 1" charset="1" panose="020B0606030504020204"/>
      <p:regular r:id="rId32"/>
    </p:embeddedFont>
    <p:embeddedFont>
      <p:font typeface="Open Sans 1 Bold" charset="1" panose="020B0806030504020204"/>
      <p:regular r:id="rId33"/>
    </p:embeddedFont>
    <p:embeddedFont>
      <p:font typeface="Fredoka" charset="1" panose="02000000000000000000"/>
      <p:regular r:id="rId34"/>
    </p:embeddedFont>
    <p:embeddedFont>
      <p:font typeface="Arimo" charset="1" panose="020B060402020202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8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831070"/>
            <a:ext cx="9873830" cy="11243492"/>
          </a:xfrm>
          <a:custGeom>
            <a:avLst/>
            <a:gdLst/>
            <a:ahLst/>
            <a:cxnLst/>
            <a:rect r="r" b="b" t="t" l="l"/>
            <a:pathLst>
              <a:path h="11243492" w="9873830">
                <a:moveTo>
                  <a:pt x="0" y="0"/>
                </a:moveTo>
                <a:lnTo>
                  <a:pt x="9873830" y="0"/>
                </a:lnTo>
                <a:lnTo>
                  <a:pt x="9873830" y="11243492"/>
                </a:lnTo>
                <a:lnTo>
                  <a:pt x="0" y="11243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2349317" y="4969873"/>
            <a:ext cx="6157558" cy="6157558"/>
          </a:xfrm>
          <a:custGeom>
            <a:avLst/>
            <a:gdLst/>
            <a:ahLst/>
            <a:cxnLst/>
            <a:rect r="r" b="b" t="t" l="l"/>
            <a:pathLst>
              <a:path h="6157558" w="6157558">
                <a:moveTo>
                  <a:pt x="0" y="6157558"/>
                </a:moveTo>
                <a:lnTo>
                  <a:pt x="6157558" y="6157558"/>
                </a:lnTo>
                <a:lnTo>
                  <a:pt x="6157558" y="0"/>
                </a:lnTo>
                <a:lnTo>
                  <a:pt x="0" y="0"/>
                </a:lnTo>
                <a:lnTo>
                  <a:pt x="0" y="61575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58803" y="1361320"/>
            <a:ext cx="10387965" cy="27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49"/>
              </a:lnSpc>
              <a:spcBef>
                <a:spcPct val="0"/>
              </a:spcBef>
            </a:pPr>
            <a:r>
              <a:rPr lang="en-US" sz="15821">
                <a:solidFill>
                  <a:srgbClr val="034383"/>
                </a:solidFill>
                <a:latin typeface="Ubuntu"/>
                <a:ea typeface="Ubuntu"/>
                <a:cs typeface="Ubuntu"/>
                <a:sym typeface="Ubuntu"/>
              </a:rPr>
              <a:t>ThrivePath</a:t>
            </a:r>
            <a:r>
              <a:rPr lang="en-US" sz="1582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89290" y="3651204"/>
            <a:ext cx="7533680" cy="109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2"/>
              </a:lnSpc>
            </a:pPr>
            <a:r>
              <a:rPr lang="en-US" sz="3523">
                <a:solidFill>
                  <a:srgbClr val="034383"/>
                </a:solidFill>
                <a:latin typeface="Ubuntu"/>
                <a:ea typeface="Ubuntu"/>
                <a:cs typeface="Ubuntu"/>
                <a:sym typeface="Ubuntu"/>
              </a:rPr>
              <a:t>Overcoming FTT Through Innovation.</a:t>
            </a:r>
          </a:p>
          <a:p>
            <a:pPr algn="ctr">
              <a:lnSpc>
                <a:spcPts val="367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549662" y="4573262"/>
            <a:ext cx="4392216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Capstone Project Phase 1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48646" y="6466546"/>
            <a:ext cx="461581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Kfir Sharoni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94635" y="5942671"/>
            <a:ext cx="164758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u="sng">
                <a:solidFill>
                  <a:srgbClr val="034383"/>
                </a:solidFill>
                <a:latin typeface="Ubuntu"/>
                <a:ea typeface="Ubuntu"/>
                <a:cs typeface="Ubuntu"/>
                <a:sym typeface="Ubuntu"/>
              </a:rPr>
              <a:t>Students</a:t>
            </a:r>
            <a:r>
              <a:rPr lang="en-US" sz="3000" u="sng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58196" y="6990421"/>
            <a:ext cx="461581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Avishay Halifa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0796" y="7634622"/>
            <a:ext cx="5313164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u="sng">
                <a:solidFill>
                  <a:srgbClr val="034383"/>
                </a:solidFill>
                <a:latin typeface="Ubuntu"/>
                <a:ea typeface="Ubuntu"/>
                <a:cs typeface="Ubuntu"/>
                <a:sym typeface="Ubuntu"/>
              </a:rPr>
              <a:t>Supervisor</a:t>
            </a:r>
            <a:r>
              <a:rPr lang="en-US" sz="3000" u="sng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: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                  Dr. Natali Levi-Soskin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855686" y="8812222"/>
            <a:ext cx="2939534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34383"/>
                </a:solidFill>
                <a:latin typeface="Ubuntu"/>
                <a:ea typeface="Ubuntu"/>
                <a:cs typeface="Ubuntu"/>
                <a:sym typeface="Ubuntu"/>
              </a:rPr>
              <a:t>       </a:t>
            </a:r>
            <a:r>
              <a:rPr lang="en-US" sz="3000" u="sng">
                <a:solidFill>
                  <a:srgbClr val="034383"/>
                </a:solidFill>
                <a:latin typeface="Ubuntu"/>
                <a:ea typeface="Ubuntu"/>
                <a:cs typeface="Ubuntu"/>
                <a:sym typeface="Ubuntu"/>
              </a:rPr>
              <a:t>Project Code: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25-1-D-17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921455" y="5048599"/>
            <a:ext cx="3194368" cy="5228876"/>
          </a:xfrm>
          <a:custGeom>
            <a:avLst/>
            <a:gdLst/>
            <a:ahLst/>
            <a:cxnLst/>
            <a:rect r="r" b="b" t="t" l="l"/>
            <a:pathLst>
              <a:path h="5228876" w="3194368">
                <a:moveTo>
                  <a:pt x="0" y="0"/>
                </a:moveTo>
                <a:lnTo>
                  <a:pt x="3194368" y="0"/>
                </a:lnTo>
                <a:lnTo>
                  <a:pt x="3194368" y="5228876"/>
                </a:lnTo>
                <a:lnTo>
                  <a:pt x="0" y="5228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694" y="-166154"/>
            <a:ext cx="10631517" cy="10631517"/>
          </a:xfrm>
          <a:custGeom>
            <a:avLst/>
            <a:gdLst/>
            <a:ahLst/>
            <a:cxnLst/>
            <a:rect r="r" b="b" t="t" l="l"/>
            <a:pathLst>
              <a:path h="10631517" w="10631517">
                <a:moveTo>
                  <a:pt x="0" y="0"/>
                </a:moveTo>
                <a:lnTo>
                  <a:pt x="10631517" y="0"/>
                </a:lnTo>
                <a:lnTo>
                  <a:pt x="10631517" y="10631517"/>
                </a:lnTo>
                <a:lnTo>
                  <a:pt x="0" y="1063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800000">
            <a:off x="7897177" y="-178363"/>
            <a:ext cx="10631517" cy="10631517"/>
          </a:xfrm>
          <a:custGeom>
            <a:avLst/>
            <a:gdLst/>
            <a:ahLst/>
            <a:cxnLst/>
            <a:rect r="r" b="b" t="t" l="l"/>
            <a:pathLst>
              <a:path h="10631517" w="10631517">
                <a:moveTo>
                  <a:pt x="0" y="0"/>
                </a:moveTo>
                <a:lnTo>
                  <a:pt x="10631517" y="0"/>
                </a:lnTo>
                <a:lnTo>
                  <a:pt x="10631517" y="10631517"/>
                </a:lnTo>
                <a:lnTo>
                  <a:pt x="0" y="1063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-10800000">
            <a:off x="6938080" y="8246207"/>
            <a:ext cx="6064231" cy="1370341"/>
            <a:chOff x="0" y="0"/>
            <a:chExt cx="1597164" cy="360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7164" cy="360913"/>
            </a:xfrm>
            <a:custGeom>
              <a:avLst/>
              <a:gdLst/>
              <a:ahLst/>
              <a:cxnLst/>
              <a:rect r="r" b="b" t="t" l="l"/>
              <a:pathLst>
                <a:path h="360913" w="1597164">
                  <a:moveTo>
                    <a:pt x="0" y="0"/>
                  </a:moveTo>
                  <a:lnTo>
                    <a:pt x="1597164" y="0"/>
                  </a:lnTo>
                  <a:lnTo>
                    <a:pt x="1597164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97164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-1456230" y="9616548"/>
            <a:ext cx="9626215" cy="1370341"/>
            <a:chOff x="0" y="0"/>
            <a:chExt cx="2535300" cy="3609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35300" cy="360913"/>
            </a:xfrm>
            <a:custGeom>
              <a:avLst/>
              <a:gdLst/>
              <a:ahLst/>
              <a:cxnLst/>
              <a:rect r="r" b="b" t="t" l="l"/>
              <a:pathLst>
                <a:path h="360913" w="2535300">
                  <a:moveTo>
                    <a:pt x="0" y="0"/>
                  </a:moveTo>
                  <a:lnTo>
                    <a:pt x="2535300" y="0"/>
                  </a:lnTo>
                  <a:lnTo>
                    <a:pt x="2535300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35300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85690" y="670452"/>
            <a:ext cx="6064231" cy="1370341"/>
            <a:chOff x="0" y="0"/>
            <a:chExt cx="1597164" cy="3609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7164" cy="360913"/>
            </a:xfrm>
            <a:custGeom>
              <a:avLst/>
              <a:gdLst/>
              <a:ahLst/>
              <a:cxnLst/>
              <a:rect r="r" b="b" t="t" l="l"/>
              <a:pathLst>
                <a:path h="360913" w="1597164">
                  <a:moveTo>
                    <a:pt x="0" y="0"/>
                  </a:moveTo>
                  <a:lnTo>
                    <a:pt x="1597164" y="0"/>
                  </a:lnTo>
                  <a:lnTo>
                    <a:pt x="1597164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97164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18015" y="-699889"/>
            <a:ext cx="9626215" cy="1370341"/>
            <a:chOff x="0" y="0"/>
            <a:chExt cx="2535300" cy="3609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5300" cy="360913"/>
            </a:xfrm>
            <a:custGeom>
              <a:avLst/>
              <a:gdLst/>
              <a:ahLst/>
              <a:cxnLst/>
              <a:rect r="r" b="b" t="t" l="l"/>
              <a:pathLst>
                <a:path h="360913" w="2535300">
                  <a:moveTo>
                    <a:pt x="0" y="0"/>
                  </a:moveTo>
                  <a:lnTo>
                    <a:pt x="2535300" y="0"/>
                  </a:lnTo>
                  <a:lnTo>
                    <a:pt x="2535300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35300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360886" y="3957913"/>
            <a:ext cx="2704966" cy="3224997"/>
          </a:xfrm>
          <a:custGeom>
            <a:avLst/>
            <a:gdLst/>
            <a:ahLst/>
            <a:cxnLst/>
            <a:rect r="r" b="b" t="t" l="l"/>
            <a:pathLst>
              <a:path h="3224997" w="2704966">
                <a:moveTo>
                  <a:pt x="0" y="0"/>
                </a:moveTo>
                <a:lnTo>
                  <a:pt x="2704966" y="0"/>
                </a:lnTo>
                <a:lnTo>
                  <a:pt x="2704966" y="3224996"/>
                </a:lnTo>
                <a:lnTo>
                  <a:pt x="0" y="3224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48600" y="1585240"/>
            <a:ext cx="7035864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INTRODUCTION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19102" y="3080265"/>
            <a:ext cx="13444539" cy="4562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2506" indent="-281253" lvl="1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Failure to Thrive (FTT) is a pediatric health issue affecting growth and development, requiring multifaceted care. Current solutions often lack integration, creating challenges for families and professionals.</a:t>
            </a:r>
          </a:p>
          <a:p>
            <a:pPr algn="l">
              <a:lnSpc>
                <a:spcPts val="3647"/>
              </a:lnSpc>
            </a:pPr>
          </a:p>
          <a:p>
            <a:pPr algn="l" marL="562506" indent="-281253" lvl="1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We propose a website that analyzes diagnostic data to provide personalized recommendations like meal plans and supplements, bridging gaps between diagnosis and care.</a:t>
            </a:r>
          </a:p>
          <a:p>
            <a:pPr algn="l">
              <a:lnSpc>
                <a:spcPts val="3647"/>
              </a:lnSpc>
            </a:pPr>
          </a:p>
          <a:p>
            <a:pPr algn="l" marL="562506" indent="-281253" lvl="1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Parents, caregivers, and professionals gain actionable insights, while children with FTT receive timely, tailored support for improved outcomes.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92127" y="1618283"/>
            <a:ext cx="15702433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EFFECTS AND PREVALENCE OF FTT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764867" y="-699889"/>
            <a:ext cx="16931738" cy="1533898"/>
            <a:chOff x="0" y="0"/>
            <a:chExt cx="4459388" cy="4039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59388" cy="403990"/>
            </a:xfrm>
            <a:custGeom>
              <a:avLst/>
              <a:gdLst/>
              <a:ahLst/>
              <a:cxnLst/>
              <a:rect r="r" b="b" t="t" l="l"/>
              <a:pathLst>
                <a:path h="403990" w="4459388">
                  <a:moveTo>
                    <a:pt x="0" y="0"/>
                  </a:moveTo>
                  <a:lnTo>
                    <a:pt x="4459388" y="0"/>
                  </a:lnTo>
                  <a:lnTo>
                    <a:pt x="4459388" y="403990"/>
                  </a:lnTo>
                  <a:lnTo>
                    <a:pt x="0" y="403990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59388" cy="442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-5015057" y="4582096"/>
            <a:ext cx="10698089" cy="1533898"/>
            <a:chOff x="0" y="0"/>
            <a:chExt cx="2817604" cy="4039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17604" cy="403990"/>
            </a:xfrm>
            <a:custGeom>
              <a:avLst/>
              <a:gdLst/>
              <a:ahLst/>
              <a:cxnLst/>
              <a:rect r="r" b="b" t="t" l="l"/>
              <a:pathLst>
                <a:path h="403990" w="2817604">
                  <a:moveTo>
                    <a:pt x="0" y="0"/>
                  </a:moveTo>
                  <a:lnTo>
                    <a:pt x="2817604" y="0"/>
                  </a:lnTo>
                  <a:lnTo>
                    <a:pt x="2817604" y="403990"/>
                  </a:lnTo>
                  <a:lnTo>
                    <a:pt x="0" y="403990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17604" cy="442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7625" y="-16348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303040" y="5105753"/>
            <a:ext cx="3743692" cy="3028987"/>
          </a:xfrm>
          <a:custGeom>
            <a:avLst/>
            <a:gdLst/>
            <a:ahLst/>
            <a:cxnLst/>
            <a:rect r="r" b="b" t="t" l="l"/>
            <a:pathLst>
              <a:path h="3028987" w="3743692">
                <a:moveTo>
                  <a:pt x="0" y="0"/>
                </a:moveTo>
                <a:lnTo>
                  <a:pt x="3743692" y="0"/>
                </a:lnTo>
                <a:lnTo>
                  <a:pt x="3743692" y="3028986"/>
                </a:lnTo>
                <a:lnTo>
                  <a:pt x="0" y="3028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09775" y="3071847"/>
            <a:ext cx="10931315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Impact on Children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FTT slows growth, weakens immunity, and delays learning, with emotional struggles like withdrawal and attachment issues.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09775" y="7056800"/>
            <a:ext cx="10617390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Prevalence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FTT a</a:t>
            </a:r>
            <a:r>
              <a:rPr lang="en-US" sz="27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ffects 5–10% of children in primary care and 3–5% in hospitals in the U.S.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Most cases are identified before 18 months, a critical growth period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892127" y="5148316"/>
            <a:ext cx="10931315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Impact on Families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Families face stress, guilt, and financial strain, requiring support to manage challenges and improve outcomes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81844" y="9782591"/>
            <a:ext cx="9707932" cy="38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  <a:spcBef>
                <a:spcPct val="0"/>
              </a:spcBef>
            </a:pPr>
            <a:r>
              <a:rPr lang="en-US" b="true" sz="2354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*Failure to Thrive: An Update, Cole, S. Z., &amp; Lanham, J. S. (2011)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92127" y="1532558"/>
            <a:ext cx="15702433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TREATING FAILURE TO THRIVE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764867" y="-699889"/>
            <a:ext cx="16931738" cy="1533898"/>
            <a:chOff x="0" y="0"/>
            <a:chExt cx="4459388" cy="4039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59388" cy="403990"/>
            </a:xfrm>
            <a:custGeom>
              <a:avLst/>
              <a:gdLst/>
              <a:ahLst/>
              <a:cxnLst/>
              <a:rect r="r" b="b" t="t" l="l"/>
              <a:pathLst>
                <a:path h="403990" w="4459388">
                  <a:moveTo>
                    <a:pt x="0" y="0"/>
                  </a:moveTo>
                  <a:lnTo>
                    <a:pt x="4459388" y="0"/>
                  </a:lnTo>
                  <a:lnTo>
                    <a:pt x="4459388" y="403990"/>
                  </a:lnTo>
                  <a:lnTo>
                    <a:pt x="0" y="403990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59388" cy="442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-5015057" y="4582096"/>
            <a:ext cx="10698089" cy="1533898"/>
            <a:chOff x="0" y="0"/>
            <a:chExt cx="2817604" cy="4039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17604" cy="403990"/>
            </a:xfrm>
            <a:custGeom>
              <a:avLst/>
              <a:gdLst/>
              <a:ahLst/>
              <a:cxnLst/>
              <a:rect r="r" b="b" t="t" l="l"/>
              <a:pathLst>
                <a:path h="403990" w="2817604">
                  <a:moveTo>
                    <a:pt x="0" y="0"/>
                  </a:moveTo>
                  <a:lnTo>
                    <a:pt x="2817604" y="0"/>
                  </a:lnTo>
                  <a:lnTo>
                    <a:pt x="2817604" y="403990"/>
                  </a:lnTo>
                  <a:lnTo>
                    <a:pt x="0" y="403990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17604" cy="442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7625" y="-16348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862816" y="4655832"/>
            <a:ext cx="3109452" cy="2787200"/>
          </a:xfrm>
          <a:custGeom>
            <a:avLst/>
            <a:gdLst/>
            <a:ahLst/>
            <a:cxnLst/>
            <a:rect r="r" b="b" t="t" l="l"/>
            <a:pathLst>
              <a:path h="2787200" w="3109452">
                <a:moveTo>
                  <a:pt x="0" y="0"/>
                </a:moveTo>
                <a:lnTo>
                  <a:pt x="3109452" y="0"/>
                </a:lnTo>
                <a:lnTo>
                  <a:pt x="3109452" y="2787200"/>
                </a:lnTo>
                <a:lnTo>
                  <a:pt x="0" y="278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09775" y="2663745"/>
            <a:ext cx="12682329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34383"/>
                </a:solidFill>
                <a:latin typeface="Ubuntu"/>
                <a:ea typeface="Ubuntu"/>
                <a:cs typeface="Ubuntu"/>
                <a:sym typeface="Ubuntu"/>
              </a:rPr>
              <a:t>Challenges in Treatment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FTT treatment requires coordinated medical, nutritional, and psychological interventions. Conflicts between disciplines emphasize the need for collaboration and comprehensive care planning.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09775" y="7719977"/>
            <a:ext cx="12682329" cy="171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34383"/>
                </a:solidFill>
                <a:latin typeface="Ubuntu"/>
                <a:ea typeface="Ubuntu"/>
                <a:cs typeface="Ubuntu"/>
                <a:sym typeface="Ubuntu"/>
              </a:rPr>
              <a:t>Support Systems &amp; Digital Gaps</a:t>
            </a:r>
          </a:p>
          <a:p>
            <a:pPr algn="just" marL="0" indent="0" lvl="0">
              <a:lnSpc>
                <a:spcPts val="3449"/>
              </a:lnSpc>
              <a:spcBef>
                <a:spcPct val="0"/>
              </a:spcBef>
            </a:pPr>
            <a:r>
              <a:rPr lang="en-US" sz="2463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Resources include home nursing visits, nutritional counseling, and support groups, but digital tools focus on diagnosis, lacking integrated solutions for holistic FTT management.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9775" y="4820457"/>
            <a:ext cx="12682329" cy="262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537" indent="-269769" lvl="1">
              <a:lnSpc>
                <a:spcPts val="3498"/>
              </a:lnSpc>
              <a:buFont typeface="Arial"/>
              <a:buChar char="•"/>
            </a:pPr>
            <a:r>
              <a:rPr lang="en-US" sz="2499">
                <a:solidFill>
                  <a:srgbClr val="034383"/>
                </a:solidFill>
                <a:latin typeface="Ubuntu"/>
                <a:ea typeface="Ubuntu"/>
                <a:cs typeface="Ubuntu"/>
                <a:sym typeface="Ubuntu"/>
              </a:rPr>
              <a:t>Key Treatment Approaches</a:t>
            </a:r>
          </a:p>
          <a:p>
            <a:pPr algn="just">
              <a:lnSpc>
                <a:spcPts val="3498"/>
              </a:lnSpc>
            </a:pPr>
            <a:r>
              <a:rPr lang="en-US" sz="24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Medical: Targeted medications for underlying conditions like infections or metabolic disorders.</a:t>
            </a:r>
          </a:p>
          <a:p>
            <a:pPr algn="just">
              <a:lnSpc>
                <a:spcPts val="3498"/>
              </a:lnSpc>
            </a:pPr>
            <a:r>
              <a:rPr lang="en-US" sz="24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Nutritional: Energy-dense diets, supplements, and, in severe cases, tube feeding.</a:t>
            </a:r>
          </a:p>
          <a:p>
            <a:pPr algn="just">
              <a:lnSpc>
                <a:spcPts val="3498"/>
              </a:lnSpc>
            </a:pPr>
            <a:r>
              <a:rPr lang="en-US" sz="24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Psychological: Counseling for families, behavioral therapies, and caregiver support.</a:t>
            </a:r>
          </a:p>
          <a:p>
            <a:pPr algn="just" marL="0" indent="0" lvl="0">
              <a:lnSpc>
                <a:spcPts val="34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234012"/>
            <a:ext cx="15584786" cy="98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9"/>
              </a:lnSpc>
            </a:pPr>
            <a:r>
              <a:rPr lang="en-US" b="true" sz="6699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OUR SOLUTION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5400000">
            <a:off x="-835100" y="-864327"/>
            <a:ext cx="6157558" cy="6157558"/>
          </a:xfrm>
          <a:custGeom>
            <a:avLst/>
            <a:gdLst/>
            <a:ahLst/>
            <a:cxnLst/>
            <a:rect r="r" b="b" t="t" l="l"/>
            <a:pathLst>
              <a:path h="6157558" w="6157558">
                <a:moveTo>
                  <a:pt x="6157558" y="0"/>
                </a:moveTo>
                <a:lnTo>
                  <a:pt x="0" y="0"/>
                </a:lnTo>
                <a:lnTo>
                  <a:pt x="0" y="6157557"/>
                </a:lnTo>
                <a:lnTo>
                  <a:pt x="6157558" y="6157557"/>
                </a:lnTo>
                <a:lnTo>
                  <a:pt x="61575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2814394" y="6970349"/>
            <a:ext cx="6157558" cy="6157558"/>
          </a:xfrm>
          <a:custGeom>
            <a:avLst/>
            <a:gdLst/>
            <a:ahLst/>
            <a:cxnLst/>
            <a:rect r="r" b="b" t="t" l="l"/>
            <a:pathLst>
              <a:path h="6157558" w="6157558">
                <a:moveTo>
                  <a:pt x="0" y="6157558"/>
                </a:moveTo>
                <a:lnTo>
                  <a:pt x="6157558" y="6157558"/>
                </a:lnTo>
                <a:lnTo>
                  <a:pt x="6157558" y="0"/>
                </a:lnTo>
                <a:lnTo>
                  <a:pt x="0" y="0"/>
                </a:lnTo>
                <a:lnTo>
                  <a:pt x="0" y="61575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79146" y="285413"/>
            <a:ext cx="3455662" cy="3373590"/>
          </a:xfrm>
          <a:custGeom>
            <a:avLst/>
            <a:gdLst/>
            <a:ahLst/>
            <a:cxnLst/>
            <a:rect r="r" b="b" t="t" l="l"/>
            <a:pathLst>
              <a:path h="3373590" w="3455662">
                <a:moveTo>
                  <a:pt x="0" y="0"/>
                </a:moveTo>
                <a:lnTo>
                  <a:pt x="3455663" y="0"/>
                </a:lnTo>
                <a:lnTo>
                  <a:pt x="3455663" y="3373591"/>
                </a:lnTo>
                <a:lnTo>
                  <a:pt x="0" y="3373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2590" y="2977690"/>
            <a:ext cx="14960583" cy="165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8071" indent="-339035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034383"/>
                </a:solidFill>
                <a:latin typeface="Ubuntu"/>
                <a:ea typeface="Ubuntu"/>
                <a:cs typeface="Ubuntu"/>
                <a:sym typeface="Ubuntu"/>
              </a:rPr>
              <a:t>ThrivePath Platform</a:t>
            </a:r>
          </a:p>
          <a:p>
            <a:pPr algn="l" marL="1356141" indent="-452047" lvl="2">
              <a:lnSpc>
                <a:spcPts val="4396"/>
              </a:lnSpc>
              <a:buFont typeface="Arial"/>
              <a:buChar char="⚬"/>
            </a:pPr>
            <a:r>
              <a:rPr lang="en-US" sz="3140">
                <a:solidFill>
                  <a:srgbClr val="0D1D29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en-US" sz="3140">
                <a:solidFill>
                  <a:srgbClr val="0D1D29"/>
                </a:solidFill>
                <a:latin typeface="Ubuntu"/>
                <a:ea typeface="Ubuntu"/>
                <a:cs typeface="Ubuntu"/>
                <a:sym typeface="Ubuntu"/>
              </a:rPr>
              <a:t>A centralized website to address Failure to Thrive (FTT) in children by bridging diagnosis and tailored intervention.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394706"/>
            <a:ext cx="15439207" cy="441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7925" indent="-338962" lvl="1">
              <a:lnSpc>
                <a:spcPts val="4395"/>
              </a:lnSpc>
              <a:buFont typeface="Arial"/>
              <a:buChar char="•"/>
            </a:pPr>
            <a:r>
              <a:rPr lang="en-US" sz="3139">
                <a:solidFill>
                  <a:srgbClr val="034383"/>
                </a:solidFill>
                <a:latin typeface="Ubuntu"/>
                <a:ea typeface="Ubuntu"/>
                <a:cs typeface="Ubuntu"/>
                <a:sym typeface="Ubuntu"/>
              </a:rPr>
              <a:t>Key Features</a:t>
            </a:r>
          </a:p>
          <a:p>
            <a:pPr algn="l" marL="1355850" indent="-451950" lvl="2">
              <a:lnSpc>
                <a:spcPts val="4395"/>
              </a:lnSpc>
              <a:buFont typeface="Arial"/>
              <a:buChar char="⚬"/>
            </a:pPr>
            <a:r>
              <a:rPr lang="en-US" sz="3139">
                <a:solidFill>
                  <a:srgbClr val="0D1D29"/>
                </a:solidFill>
                <a:latin typeface="Ubuntu"/>
                <a:ea typeface="Ubuntu"/>
                <a:cs typeface="Ubuntu"/>
                <a:sym typeface="Ubuntu"/>
              </a:rPr>
              <a:t>Personalized recommendations: Custom</a:t>
            </a:r>
            <a:r>
              <a:rPr lang="en-US" sz="3139">
                <a:solidFill>
                  <a:srgbClr val="0D1D29"/>
                </a:solidFill>
                <a:latin typeface="Ubuntu"/>
                <a:ea typeface="Ubuntu"/>
                <a:cs typeface="Ubuntu"/>
                <a:sym typeface="Ubuntu"/>
              </a:rPr>
              <a:t> meal plans, supplements, and developmental activities.</a:t>
            </a:r>
          </a:p>
          <a:p>
            <a:pPr algn="l" marL="1355850" indent="-451950" lvl="2">
              <a:lnSpc>
                <a:spcPts val="4395"/>
              </a:lnSpc>
              <a:buFont typeface="Arial"/>
              <a:buChar char="⚬"/>
            </a:pPr>
            <a:r>
              <a:rPr lang="en-US" sz="3139">
                <a:solidFill>
                  <a:srgbClr val="0D1D29"/>
                </a:solidFill>
                <a:latin typeface="Ubuntu"/>
                <a:ea typeface="Ubuntu"/>
                <a:cs typeface="Ubuntu"/>
                <a:sym typeface="Ubuntu"/>
              </a:rPr>
              <a:t>Diagnostic </a:t>
            </a:r>
            <a:r>
              <a:rPr lang="en-US" sz="3139">
                <a:solidFill>
                  <a:srgbClr val="0D1D29"/>
                </a:solidFill>
                <a:latin typeface="Ubuntu"/>
                <a:ea typeface="Ubuntu"/>
                <a:cs typeface="Ubuntu"/>
                <a:sym typeface="Ubuntu"/>
              </a:rPr>
              <a:t>integration</a:t>
            </a:r>
            <a:r>
              <a:rPr lang="en-US" sz="3139">
                <a:solidFill>
                  <a:srgbClr val="0D1D29"/>
                </a:solidFill>
                <a:latin typeface="Ubuntu"/>
                <a:ea typeface="Ubuntu"/>
                <a:cs typeface="Ubuntu"/>
                <a:sym typeface="Ubuntu"/>
              </a:rPr>
              <a:t>: Upload reports for precise analysis and actionable solutions.</a:t>
            </a:r>
          </a:p>
          <a:p>
            <a:pPr algn="l" marL="1355850" indent="-451950" lvl="2">
              <a:lnSpc>
                <a:spcPts val="4395"/>
              </a:lnSpc>
              <a:buFont typeface="Arial"/>
              <a:buChar char="⚬"/>
            </a:pPr>
            <a:r>
              <a:rPr lang="en-US" sz="3139">
                <a:solidFill>
                  <a:srgbClr val="0D1D29"/>
                </a:solidFill>
                <a:latin typeface="Ubuntu"/>
                <a:ea typeface="Ubuntu"/>
                <a:cs typeface="Ubuntu"/>
                <a:sym typeface="Ubuntu"/>
              </a:rPr>
              <a:t>Growth tracking: Monitor progress over time with visual insights.</a:t>
            </a:r>
          </a:p>
          <a:p>
            <a:pPr algn="l">
              <a:lnSpc>
                <a:spcPts val="4395"/>
              </a:lnSpc>
              <a:spcBef>
                <a:spcPct val="0"/>
              </a:spcBef>
            </a:pPr>
          </a:p>
          <a:p>
            <a:pPr algn="l">
              <a:lnSpc>
                <a:spcPts val="43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8564"/>
            <a:ext cx="14813610" cy="90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6"/>
              </a:lnSpc>
            </a:pPr>
            <a:r>
              <a:rPr lang="en-US" sz="6178" b="true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ENGINEERING PROCESS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8001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201863" y="4816404"/>
            <a:ext cx="2308947" cy="2650154"/>
          </a:xfrm>
          <a:custGeom>
            <a:avLst/>
            <a:gdLst/>
            <a:ahLst/>
            <a:cxnLst/>
            <a:rect r="r" b="b" t="t" l="l"/>
            <a:pathLst>
              <a:path h="2650154" w="2308947">
                <a:moveTo>
                  <a:pt x="0" y="0"/>
                </a:moveTo>
                <a:lnTo>
                  <a:pt x="2308947" y="0"/>
                </a:lnTo>
                <a:lnTo>
                  <a:pt x="2308947" y="2650154"/>
                </a:lnTo>
                <a:lnTo>
                  <a:pt x="0" y="2650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746543"/>
            <a:ext cx="13173163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68" indent="-356234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Understanding FTT</a:t>
            </a:r>
          </a:p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Conducted in-depth research on FTT's causes, impacts, and existing care gaps, highlighting the need for early, integrated solutions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902129"/>
            <a:ext cx="13173163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68" indent="-356234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Identifying Gaps</a:t>
            </a:r>
          </a:p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Reviewed current tools and found they lack personalized, cohesive care, leading to the development of a unified platform.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057716"/>
            <a:ext cx="13173163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68" indent="-356234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Platform Focus</a:t>
            </a:r>
          </a:p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Designed a solution emphasizing simplicity, accessibility, and tailored recommendations to empower families and caregivers.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92127" y="1618283"/>
            <a:ext cx="15702433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OUR MODEL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764867" y="-699889"/>
            <a:ext cx="16931738" cy="1533898"/>
            <a:chOff x="0" y="0"/>
            <a:chExt cx="4459388" cy="4039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59388" cy="403990"/>
            </a:xfrm>
            <a:custGeom>
              <a:avLst/>
              <a:gdLst/>
              <a:ahLst/>
              <a:cxnLst/>
              <a:rect r="r" b="b" t="t" l="l"/>
              <a:pathLst>
                <a:path h="403990" w="4459388">
                  <a:moveTo>
                    <a:pt x="0" y="0"/>
                  </a:moveTo>
                  <a:lnTo>
                    <a:pt x="4459388" y="0"/>
                  </a:lnTo>
                  <a:lnTo>
                    <a:pt x="4459388" y="403990"/>
                  </a:lnTo>
                  <a:lnTo>
                    <a:pt x="0" y="403990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59388" cy="442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-5015057" y="4582096"/>
            <a:ext cx="10698089" cy="1533898"/>
            <a:chOff x="0" y="0"/>
            <a:chExt cx="2817604" cy="4039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17604" cy="403990"/>
            </a:xfrm>
            <a:custGeom>
              <a:avLst/>
              <a:gdLst/>
              <a:ahLst/>
              <a:cxnLst/>
              <a:rect r="r" b="b" t="t" l="l"/>
              <a:pathLst>
                <a:path h="403990" w="2817604">
                  <a:moveTo>
                    <a:pt x="0" y="0"/>
                  </a:moveTo>
                  <a:lnTo>
                    <a:pt x="2817604" y="0"/>
                  </a:lnTo>
                  <a:lnTo>
                    <a:pt x="2817604" y="403990"/>
                  </a:lnTo>
                  <a:lnTo>
                    <a:pt x="0" y="403990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17604" cy="442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7625" y="-16348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892127" y="3105150"/>
            <a:ext cx="1439418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D1D29"/>
                </a:solidFill>
                <a:latin typeface="Ubuntu"/>
                <a:ea typeface="Ubuntu"/>
                <a:cs typeface="Ubuntu"/>
                <a:sym typeface="Ubuntu"/>
              </a:rPr>
              <a:t>We use an Object-Process Methodology (OPM) diagram to showcase our model.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09775" y="4029075"/>
            <a:ext cx="14394181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D1D29"/>
                </a:solidFill>
                <a:latin typeface="Ubuntu"/>
                <a:ea typeface="Ubuntu"/>
                <a:cs typeface="Ubuntu"/>
                <a:sym typeface="Ubuntu"/>
              </a:rPr>
              <a:t>Inside the diagram, we: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D1D29"/>
                </a:solidFill>
                <a:latin typeface="Ubuntu"/>
                <a:ea typeface="Ubuntu"/>
                <a:cs typeface="Ubuntu"/>
                <a:sym typeface="Ubuntu"/>
              </a:rPr>
              <a:t>Analyze the child’s profile and diagnostic data.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D1D29"/>
                </a:solidFill>
                <a:latin typeface="Ubuntu"/>
                <a:ea typeface="Ubuntu"/>
                <a:cs typeface="Ubuntu"/>
                <a:sym typeface="Ubuntu"/>
              </a:rPr>
              <a:t>Calculate nutritional needs and supplementation requirements.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D1D29"/>
                </a:solidFill>
                <a:latin typeface="Ubuntu"/>
                <a:ea typeface="Ubuntu"/>
                <a:cs typeface="Ubuntu"/>
                <a:sym typeface="Ubuntu"/>
              </a:rPr>
              <a:t>Generate a tailored treatment plan, including diet and lifestyle changes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5342" y="6553200"/>
            <a:ext cx="1407958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D1D29"/>
                </a:solidFill>
                <a:latin typeface="Ubuntu"/>
                <a:ea typeface="Ubuntu"/>
                <a:cs typeface="Ubuntu"/>
                <a:sym typeface="Ubuntu"/>
              </a:rPr>
              <a:t>This approach integrates structure, behavior, and functionality for clarity and precision.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0800000">
            <a:off x="14346556" y="658328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694" y="-166154"/>
            <a:ext cx="10631517" cy="10631517"/>
          </a:xfrm>
          <a:custGeom>
            <a:avLst/>
            <a:gdLst/>
            <a:ahLst/>
            <a:cxnLst/>
            <a:rect r="r" b="b" t="t" l="l"/>
            <a:pathLst>
              <a:path h="10631517" w="10631517">
                <a:moveTo>
                  <a:pt x="0" y="0"/>
                </a:moveTo>
                <a:lnTo>
                  <a:pt x="10631517" y="0"/>
                </a:lnTo>
                <a:lnTo>
                  <a:pt x="10631517" y="10631517"/>
                </a:lnTo>
                <a:lnTo>
                  <a:pt x="0" y="1063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800000">
            <a:off x="7897177" y="-178363"/>
            <a:ext cx="10631517" cy="10631517"/>
          </a:xfrm>
          <a:custGeom>
            <a:avLst/>
            <a:gdLst/>
            <a:ahLst/>
            <a:cxnLst/>
            <a:rect r="r" b="b" t="t" l="l"/>
            <a:pathLst>
              <a:path h="10631517" w="10631517">
                <a:moveTo>
                  <a:pt x="0" y="0"/>
                </a:moveTo>
                <a:lnTo>
                  <a:pt x="10631517" y="0"/>
                </a:lnTo>
                <a:lnTo>
                  <a:pt x="10631517" y="10631517"/>
                </a:lnTo>
                <a:lnTo>
                  <a:pt x="0" y="1063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-10800000">
            <a:off x="6938080" y="8246207"/>
            <a:ext cx="6064231" cy="1370341"/>
            <a:chOff x="0" y="0"/>
            <a:chExt cx="1597164" cy="360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7164" cy="360913"/>
            </a:xfrm>
            <a:custGeom>
              <a:avLst/>
              <a:gdLst/>
              <a:ahLst/>
              <a:cxnLst/>
              <a:rect r="r" b="b" t="t" l="l"/>
              <a:pathLst>
                <a:path h="360913" w="1597164">
                  <a:moveTo>
                    <a:pt x="0" y="0"/>
                  </a:moveTo>
                  <a:lnTo>
                    <a:pt x="1597164" y="0"/>
                  </a:lnTo>
                  <a:lnTo>
                    <a:pt x="1597164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97164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-1456230" y="9616548"/>
            <a:ext cx="9626215" cy="1370341"/>
            <a:chOff x="0" y="0"/>
            <a:chExt cx="2535300" cy="3609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35300" cy="360913"/>
            </a:xfrm>
            <a:custGeom>
              <a:avLst/>
              <a:gdLst/>
              <a:ahLst/>
              <a:cxnLst/>
              <a:rect r="r" b="b" t="t" l="l"/>
              <a:pathLst>
                <a:path h="360913" w="2535300">
                  <a:moveTo>
                    <a:pt x="0" y="0"/>
                  </a:moveTo>
                  <a:lnTo>
                    <a:pt x="2535300" y="0"/>
                  </a:lnTo>
                  <a:lnTo>
                    <a:pt x="2535300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35300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85690" y="670452"/>
            <a:ext cx="6064231" cy="1370341"/>
            <a:chOff x="0" y="0"/>
            <a:chExt cx="1597164" cy="3609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7164" cy="360913"/>
            </a:xfrm>
            <a:custGeom>
              <a:avLst/>
              <a:gdLst/>
              <a:ahLst/>
              <a:cxnLst/>
              <a:rect r="r" b="b" t="t" l="l"/>
              <a:pathLst>
                <a:path h="360913" w="1597164">
                  <a:moveTo>
                    <a:pt x="0" y="0"/>
                  </a:moveTo>
                  <a:lnTo>
                    <a:pt x="1597164" y="0"/>
                  </a:lnTo>
                  <a:lnTo>
                    <a:pt x="1597164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97164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18015" y="-699889"/>
            <a:ext cx="9626215" cy="1370341"/>
            <a:chOff x="0" y="0"/>
            <a:chExt cx="2535300" cy="3609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5300" cy="360913"/>
            </a:xfrm>
            <a:custGeom>
              <a:avLst/>
              <a:gdLst/>
              <a:ahLst/>
              <a:cxnLst/>
              <a:rect r="r" b="b" t="t" l="l"/>
              <a:pathLst>
                <a:path h="360913" w="2535300">
                  <a:moveTo>
                    <a:pt x="0" y="0"/>
                  </a:moveTo>
                  <a:lnTo>
                    <a:pt x="2535300" y="0"/>
                  </a:lnTo>
                  <a:lnTo>
                    <a:pt x="2535300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35300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08678" y="3028848"/>
            <a:ext cx="7377985" cy="4799750"/>
          </a:xfrm>
          <a:custGeom>
            <a:avLst/>
            <a:gdLst/>
            <a:ahLst/>
            <a:cxnLst/>
            <a:rect r="r" b="b" t="t" l="l"/>
            <a:pathLst>
              <a:path h="4799750" w="7377985">
                <a:moveTo>
                  <a:pt x="0" y="0"/>
                </a:moveTo>
                <a:lnTo>
                  <a:pt x="7377985" y="0"/>
                </a:lnTo>
                <a:lnTo>
                  <a:pt x="7377985" y="4799750"/>
                </a:lnTo>
                <a:lnTo>
                  <a:pt x="0" y="4799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6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600764" y="976210"/>
            <a:ext cx="9470094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b="true" sz="6500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TREATMENT DEFINING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48563" y="2250343"/>
            <a:ext cx="7462922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Input Sources</a:t>
            </a:r>
          </a:p>
          <a:p>
            <a:pPr algn="just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Child's profile: Includes age, gender, weight.</a:t>
            </a:r>
          </a:p>
          <a:p>
            <a:pPr algn="just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Diagnosis: Details the specific FTT condition.</a:t>
            </a:r>
          </a:p>
          <a:p>
            <a:pPr algn="just">
              <a:lnSpc>
                <a:spcPts val="363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8648563" y="3908329"/>
            <a:ext cx="7824177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Core Sub-Processes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Nutrition Changing: Adjusts the diet to meet nutritional needs.</a:t>
            </a: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Changing Daily Habits: Focuses on</a:t>
            </a:r>
            <a:r>
              <a:rPr lang="en-US" sz="25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lifestyle improvements.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648563" y="6383866"/>
            <a:ext cx="7824177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Tailored Growth Support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Combines all information from the previous steps into a comprehensive plan.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Provides actionable recommendations for nutrition and lifestyle to support the child's development.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9775" y="1438299"/>
            <a:ext cx="15702433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NUTRITION CHANGING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764867" y="-699889"/>
            <a:ext cx="16931738" cy="1533898"/>
            <a:chOff x="0" y="0"/>
            <a:chExt cx="4459388" cy="4039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59388" cy="403990"/>
            </a:xfrm>
            <a:custGeom>
              <a:avLst/>
              <a:gdLst/>
              <a:ahLst/>
              <a:cxnLst/>
              <a:rect r="r" b="b" t="t" l="l"/>
              <a:pathLst>
                <a:path h="403990" w="4459388">
                  <a:moveTo>
                    <a:pt x="0" y="0"/>
                  </a:moveTo>
                  <a:lnTo>
                    <a:pt x="4459388" y="0"/>
                  </a:lnTo>
                  <a:lnTo>
                    <a:pt x="4459388" y="403990"/>
                  </a:lnTo>
                  <a:lnTo>
                    <a:pt x="0" y="403990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59388" cy="442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-5015057" y="4582096"/>
            <a:ext cx="10698089" cy="1533898"/>
            <a:chOff x="0" y="0"/>
            <a:chExt cx="2817604" cy="4039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17604" cy="403990"/>
            </a:xfrm>
            <a:custGeom>
              <a:avLst/>
              <a:gdLst/>
              <a:ahLst/>
              <a:cxnLst/>
              <a:rect r="r" b="b" t="t" l="l"/>
              <a:pathLst>
                <a:path h="403990" w="2817604">
                  <a:moveTo>
                    <a:pt x="0" y="0"/>
                  </a:moveTo>
                  <a:lnTo>
                    <a:pt x="2817604" y="0"/>
                  </a:lnTo>
                  <a:lnTo>
                    <a:pt x="2817604" y="403990"/>
                  </a:lnTo>
                  <a:lnTo>
                    <a:pt x="0" y="403990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17604" cy="442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7625" y="-16348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17096423" y="4991100"/>
            <a:ext cx="111442" cy="108585"/>
            <a:chOff x="0" y="0"/>
            <a:chExt cx="148590" cy="1447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6990" y="45720"/>
              <a:ext cx="49530" cy="52070"/>
            </a:xfrm>
            <a:custGeom>
              <a:avLst/>
              <a:gdLst/>
              <a:ahLst/>
              <a:cxnLst/>
              <a:rect r="r" b="b" t="t" l="l"/>
              <a:pathLst>
                <a:path h="52070" w="49530">
                  <a:moveTo>
                    <a:pt x="49530" y="17780"/>
                  </a:moveTo>
                  <a:cubicBezTo>
                    <a:pt x="27940" y="52070"/>
                    <a:pt x="7620" y="45720"/>
                    <a:pt x="3810" y="38100"/>
                  </a:cubicBezTo>
                  <a:cubicBezTo>
                    <a:pt x="0" y="31750"/>
                    <a:pt x="3810" y="10160"/>
                    <a:pt x="10160" y="5080"/>
                  </a:cubicBezTo>
                  <a:cubicBezTo>
                    <a:pt x="16510" y="0"/>
                    <a:pt x="43180" y="7620"/>
                    <a:pt x="43180" y="7620"/>
                  </a:cubicBezTo>
                </a:path>
              </a:pathLst>
            </a:custGeom>
            <a:solidFill>
              <a:srgbClr val="99B9B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703346" y="1973950"/>
            <a:ext cx="9286228" cy="8313050"/>
          </a:xfrm>
          <a:custGeom>
            <a:avLst/>
            <a:gdLst/>
            <a:ahLst/>
            <a:cxnLst/>
            <a:rect r="r" b="b" t="t" l="l"/>
            <a:pathLst>
              <a:path h="8313050" w="9286228">
                <a:moveTo>
                  <a:pt x="0" y="0"/>
                </a:moveTo>
                <a:lnTo>
                  <a:pt x="9286228" y="0"/>
                </a:lnTo>
                <a:lnTo>
                  <a:pt x="9286228" y="8313050"/>
                </a:lnTo>
                <a:lnTo>
                  <a:pt x="0" y="8313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82146" y="2985400"/>
            <a:ext cx="6992625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Purpose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Tailors dietary recommendations based on the child's profile (gender, age, weight).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2146" y="8133980"/>
            <a:ext cx="6992625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Outcome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Integrates all calculations into a personalized treatment protocol for optimized growth and nutrition.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0165" y="4351285"/>
            <a:ext cx="7104606" cy="388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K</a:t>
            </a:r>
            <a:r>
              <a:rPr lang="en-US" sz="2199" strike="noStrike" u="none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ey Steps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trike="noStrike" u="none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Median Weight Defining: Determines target weight for healthy growth.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trike="noStrike" u="none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Caloric Value Calculation: Calculates daily caloric needs.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trike="noStrike" u="none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Calorie Distribution: Balances macronutrients (protein, carbohydrates, fats).</a:t>
            </a:r>
          </a:p>
          <a:p>
            <a:pPr algn="just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trike="noStrike" u="none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Supplement Supplying: Determines required vitamins and minerals.</a:t>
            </a: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AutoShape 16" id="16"/>
          <p:cNvSpPr/>
          <p:nvPr/>
        </p:nvSpPr>
        <p:spPr>
          <a:xfrm flipV="true">
            <a:off x="14159408" y="9351248"/>
            <a:ext cx="2802942" cy="0"/>
          </a:xfrm>
          <a:prstGeom prst="line">
            <a:avLst/>
          </a:prstGeom>
          <a:ln cap="rnd" w="19050">
            <a:solidFill>
              <a:srgbClr val="000000">
                <a:alpha val="20784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049514" y="573087"/>
            <a:ext cx="15315831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CHANGING DAILY HABITS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2090482" y="-626645"/>
            <a:ext cx="6562966" cy="7473357"/>
          </a:xfrm>
          <a:custGeom>
            <a:avLst/>
            <a:gdLst/>
            <a:ahLst/>
            <a:cxnLst/>
            <a:rect r="r" b="b" t="t" l="l"/>
            <a:pathLst>
              <a:path h="7473357" w="6562966">
                <a:moveTo>
                  <a:pt x="0" y="0"/>
                </a:moveTo>
                <a:lnTo>
                  <a:pt x="6562967" y="0"/>
                </a:lnTo>
                <a:lnTo>
                  <a:pt x="6562967" y="7473357"/>
                </a:lnTo>
                <a:lnTo>
                  <a:pt x="0" y="74733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6200" y="2008531"/>
            <a:ext cx="11359062" cy="5835718"/>
          </a:xfrm>
          <a:custGeom>
            <a:avLst/>
            <a:gdLst/>
            <a:ahLst/>
            <a:cxnLst/>
            <a:rect r="r" b="b" t="t" l="l"/>
            <a:pathLst>
              <a:path h="5835718" w="11359062">
                <a:moveTo>
                  <a:pt x="0" y="0"/>
                </a:moveTo>
                <a:lnTo>
                  <a:pt x="11359062" y="0"/>
                </a:lnTo>
                <a:lnTo>
                  <a:pt x="11359062" y="5835718"/>
                </a:lnTo>
                <a:lnTo>
                  <a:pt x="0" y="5835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814643" y="2123878"/>
            <a:ext cx="6444657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Purpose</a:t>
            </a:r>
          </a:p>
          <a:p>
            <a:pPr algn="l" marL="1122678" indent="-374226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Adjusts daily routines to improve overall health and development.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14643" y="3751580"/>
            <a:ext cx="6444657" cy="41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Key Steps</a:t>
            </a:r>
          </a:p>
          <a:p>
            <a:pPr algn="l" marL="1122678" indent="-374226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Sleep Calculation: Ensures sufficient rest based on age.</a:t>
            </a:r>
          </a:p>
          <a:p>
            <a:pPr algn="l" marL="1122678" indent="-374226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Physical Activity Planning: Promotes regular and active movement.</a:t>
            </a:r>
          </a:p>
          <a:p>
            <a:pPr algn="l" marL="1122678" indent="-374226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Hydration Goals: Recommends proper daily water intake.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814643" y="7653749"/>
            <a:ext cx="6734435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34383"/>
                </a:solidFill>
                <a:latin typeface="Open Sans 1"/>
                <a:ea typeface="Open Sans 1"/>
                <a:cs typeface="Open Sans 1"/>
                <a:sym typeface="Open Sans 1"/>
              </a:rPr>
              <a:t>Outcome</a:t>
            </a:r>
          </a:p>
          <a:p>
            <a:pPr algn="l" marL="1122678" indent="-374226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Incorporates these habits into the treatment protocol for a holistic approach to the child's well-being.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-10800000">
            <a:off x="-938428" y="5289524"/>
            <a:ext cx="6157558" cy="6157558"/>
          </a:xfrm>
          <a:custGeom>
            <a:avLst/>
            <a:gdLst/>
            <a:ahLst/>
            <a:cxnLst/>
            <a:rect r="r" b="b" t="t" l="l"/>
            <a:pathLst>
              <a:path h="6157558" w="6157558">
                <a:moveTo>
                  <a:pt x="6157558" y="0"/>
                </a:moveTo>
                <a:lnTo>
                  <a:pt x="0" y="0"/>
                </a:lnTo>
                <a:lnTo>
                  <a:pt x="0" y="6157558"/>
                </a:lnTo>
                <a:lnTo>
                  <a:pt x="6157558" y="6157558"/>
                </a:lnTo>
                <a:lnTo>
                  <a:pt x="61575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831070"/>
            <a:ext cx="9873830" cy="11243492"/>
          </a:xfrm>
          <a:custGeom>
            <a:avLst/>
            <a:gdLst/>
            <a:ahLst/>
            <a:cxnLst/>
            <a:rect r="r" b="b" t="t" l="l"/>
            <a:pathLst>
              <a:path h="11243492" w="9873830">
                <a:moveTo>
                  <a:pt x="0" y="0"/>
                </a:moveTo>
                <a:lnTo>
                  <a:pt x="9873830" y="0"/>
                </a:lnTo>
                <a:lnTo>
                  <a:pt x="9873830" y="11243492"/>
                </a:lnTo>
                <a:lnTo>
                  <a:pt x="0" y="11243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8414170" y="0"/>
            <a:ext cx="9873830" cy="11243492"/>
          </a:xfrm>
          <a:custGeom>
            <a:avLst/>
            <a:gdLst/>
            <a:ahLst/>
            <a:cxnLst/>
            <a:rect r="r" b="b" t="t" l="l"/>
            <a:pathLst>
              <a:path h="11243492" w="9873830">
                <a:moveTo>
                  <a:pt x="9873830" y="11243492"/>
                </a:moveTo>
                <a:lnTo>
                  <a:pt x="0" y="11243492"/>
                </a:lnTo>
                <a:lnTo>
                  <a:pt x="0" y="0"/>
                </a:lnTo>
                <a:lnTo>
                  <a:pt x="9873830" y="0"/>
                </a:lnTo>
                <a:lnTo>
                  <a:pt x="9873830" y="112434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82694" y="4305179"/>
            <a:ext cx="11922611" cy="175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31"/>
              </a:lnSpc>
            </a:pPr>
            <a:r>
              <a:rPr lang="en-US" b="true" sz="12028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UML DIAGRAMS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60505" y="506412"/>
            <a:ext cx="13766990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USE CASE DIAGRAM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36168" y="3154218"/>
            <a:ext cx="6096000" cy="73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VALUES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9887" y="-1193305"/>
            <a:ext cx="4364942" cy="2386610"/>
            <a:chOff x="0" y="0"/>
            <a:chExt cx="1149614" cy="6285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9614" cy="628572"/>
            </a:xfrm>
            <a:custGeom>
              <a:avLst/>
              <a:gdLst/>
              <a:ahLst/>
              <a:cxnLst/>
              <a:rect r="r" b="b" t="t" l="l"/>
              <a:pathLst>
                <a:path h="628572" w="1149614">
                  <a:moveTo>
                    <a:pt x="574807" y="628572"/>
                  </a:moveTo>
                  <a:lnTo>
                    <a:pt x="1149614" y="0"/>
                  </a:lnTo>
                  <a:lnTo>
                    <a:pt x="0" y="0"/>
                  </a:lnTo>
                  <a:lnTo>
                    <a:pt x="574807" y="628572"/>
                  </a:lnTo>
                  <a:close/>
                </a:path>
              </a:pathLst>
            </a:custGeom>
            <a:solidFill>
              <a:srgbClr val="FBC6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79627" y="6798"/>
              <a:ext cx="790360" cy="329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true" rot="5400000">
            <a:off x="-1247163" y="-160646"/>
            <a:ext cx="4962244" cy="4962244"/>
          </a:xfrm>
          <a:custGeom>
            <a:avLst/>
            <a:gdLst/>
            <a:ahLst/>
            <a:cxnLst/>
            <a:rect r="r" b="b" t="t" l="l"/>
            <a:pathLst>
              <a:path h="4962244" w="4962244">
                <a:moveTo>
                  <a:pt x="0" y="4962244"/>
                </a:moveTo>
                <a:lnTo>
                  <a:pt x="4962244" y="4962244"/>
                </a:lnTo>
                <a:lnTo>
                  <a:pt x="4962244" y="0"/>
                </a:lnTo>
                <a:lnTo>
                  <a:pt x="0" y="0"/>
                </a:lnTo>
                <a:lnTo>
                  <a:pt x="0" y="4962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2739092" y="-1291235"/>
            <a:ext cx="4364942" cy="2386610"/>
            <a:chOff x="0" y="0"/>
            <a:chExt cx="1149614" cy="6285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9614" cy="628572"/>
            </a:xfrm>
            <a:custGeom>
              <a:avLst/>
              <a:gdLst/>
              <a:ahLst/>
              <a:cxnLst/>
              <a:rect r="r" b="b" t="t" l="l"/>
              <a:pathLst>
                <a:path h="628572" w="1149614">
                  <a:moveTo>
                    <a:pt x="574807" y="628572"/>
                  </a:moveTo>
                  <a:lnTo>
                    <a:pt x="1149614" y="0"/>
                  </a:lnTo>
                  <a:lnTo>
                    <a:pt x="0" y="0"/>
                  </a:lnTo>
                  <a:lnTo>
                    <a:pt x="574807" y="628572"/>
                  </a:lnTo>
                  <a:close/>
                </a:path>
              </a:pathLst>
            </a:custGeom>
            <a:solidFill>
              <a:srgbClr val="FBC61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79627" y="6798"/>
              <a:ext cx="790360" cy="329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14572919" y="-160646"/>
            <a:ext cx="4962244" cy="4962244"/>
          </a:xfrm>
          <a:custGeom>
            <a:avLst/>
            <a:gdLst/>
            <a:ahLst/>
            <a:cxnLst/>
            <a:rect r="r" b="b" t="t" l="l"/>
            <a:pathLst>
              <a:path h="4962244" w="4962244">
                <a:moveTo>
                  <a:pt x="0" y="0"/>
                </a:moveTo>
                <a:lnTo>
                  <a:pt x="4962244" y="0"/>
                </a:lnTo>
                <a:lnTo>
                  <a:pt x="4962244" y="4962244"/>
                </a:lnTo>
                <a:lnTo>
                  <a:pt x="0" y="4962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996559" y="1679455"/>
            <a:ext cx="11887609" cy="8291607"/>
          </a:xfrm>
          <a:custGeom>
            <a:avLst/>
            <a:gdLst/>
            <a:ahLst/>
            <a:cxnLst/>
            <a:rect r="r" b="b" t="t" l="l"/>
            <a:pathLst>
              <a:path h="8291607" w="11887609">
                <a:moveTo>
                  <a:pt x="0" y="0"/>
                </a:moveTo>
                <a:lnTo>
                  <a:pt x="11887609" y="0"/>
                </a:lnTo>
                <a:lnTo>
                  <a:pt x="11887609" y="8291607"/>
                </a:lnTo>
                <a:lnTo>
                  <a:pt x="0" y="8291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2900" y="2845057"/>
            <a:ext cx="5514829" cy="212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2"/>
              </a:lnSpc>
            </a:pPr>
            <a:r>
              <a:rPr lang="en-US" sz="7402" b="true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ACIVITY DIAGRAM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36168" y="3154218"/>
            <a:ext cx="6096000" cy="73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VALUES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9887" y="-1193305"/>
            <a:ext cx="4364942" cy="2386610"/>
            <a:chOff x="0" y="0"/>
            <a:chExt cx="1149614" cy="6285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9614" cy="628572"/>
            </a:xfrm>
            <a:custGeom>
              <a:avLst/>
              <a:gdLst/>
              <a:ahLst/>
              <a:cxnLst/>
              <a:rect r="r" b="b" t="t" l="l"/>
              <a:pathLst>
                <a:path h="628572" w="1149614">
                  <a:moveTo>
                    <a:pt x="574807" y="628572"/>
                  </a:moveTo>
                  <a:lnTo>
                    <a:pt x="1149614" y="0"/>
                  </a:lnTo>
                  <a:lnTo>
                    <a:pt x="0" y="0"/>
                  </a:lnTo>
                  <a:lnTo>
                    <a:pt x="574807" y="628572"/>
                  </a:lnTo>
                  <a:close/>
                </a:path>
              </a:pathLst>
            </a:custGeom>
            <a:solidFill>
              <a:srgbClr val="FBC6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79627" y="6798"/>
              <a:ext cx="790360" cy="329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true" rot="5400000">
            <a:off x="-1247163" y="-160646"/>
            <a:ext cx="4962244" cy="4962244"/>
          </a:xfrm>
          <a:custGeom>
            <a:avLst/>
            <a:gdLst/>
            <a:ahLst/>
            <a:cxnLst/>
            <a:rect r="r" b="b" t="t" l="l"/>
            <a:pathLst>
              <a:path h="4962244" w="4962244">
                <a:moveTo>
                  <a:pt x="0" y="4962244"/>
                </a:moveTo>
                <a:lnTo>
                  <a:pt x="4962244" y="4962244"/>
                </a:lnTo>
                <a:lnTo>
                  <a:pt x="4962244" y="0"/>
                </a:lnTo>
                <a:lnTo>
                  <a:pt x="0" y="0"/>
                </a:lnTo>
                <a:lnTo>
                  <a:pt x="0" y="4962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2739092" y="-1291235"/>
            <a:ext cx="4364942" cy="2386610"/>
            <a:chOff x="0" y="0"/>
            <a:chExt cx="1149614" cy="6285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9614" cy="628572"/>
            </a:xfrm>
            <a:custGeom>
              <a:avLst/>
              <a:gdLst/>
              <a:ahLst/>
              <a:cxnLst/>
              <a:rect r="r" b="b" t="t" l="l"/>
              <a:pathLst>
                <a:path h="628572" w="1149614">
                  <a:moveTo>
                    <a:pt x="574807" y="628572"/>
                  </a:moveTo>
                  <a:lnTo>
                    <a:pt x="1149614" y="0"/>
                  </a:lnTo>
                  <a:lnTo>
                    <a:pt x="0" y="0"/>
                  </a:lnTo>
                  <a:lnTo>
                    <a:pt x="574807" y="628572"/>
                  </a:lnTo>
                  <a:close/>
                </a:path>
              </a:pathLst>
            </a:custGeom>
            <a:solidFill>
              <a:srgbClr val="FBC61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79627" y="6798"/>
              <a:ext cx="790360" cy="329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14572919" y="-160646"/>
            <a:ext cx="4962244" cy="4962244"/>
          </a:xfrm>
          <a:custGeom>
            <a:avLst/>
            <a:gdLst/>
            <a:ahLst/>
            <a:cxnLst/>
            <a:rect r="r" b="b" t="t" l="l"/>
            <a:pathLst>
              <a:path h="4962244" w="4962244">
                <a:moveTo>
                  <a:pt x="0" y="0"/>
                </a:moveTo>
                <a:lnTo>
                  <a:pt x="4962244" y="0"/>
                </a:lnTo>
                <a:lnTo>
                  <a:pt x="4962244" y="4962244"/>
                </a:lnTo>
                <a:lnTo>
                  <a:pt x="0" y="4962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4777990" y="0"/>
            <a:ext cx="9184234" cy="10287000"/>
          </a:xfrm>
          <a:custGeom>
            <a:avLst/>
            <a:gdLst/>
            <a:ahLst/>
            <a:cxnLst/>
            <a:rect r="r" b="b" t="t" l="l"/>
            <a:pathLst>
              <a:path h="10287000" w="9184234">
                <a:moveTo>
                  <a:pt x="0" y="0"/>
                </a:moveTo>
                <a:lnTo>
                  <a:pt x="9184233" y="0"/>
                </a:lnTo>
                <a:lnTo>
                  <a:pt x="918423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5124273" y="696377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5400000">
            <a:off x="-698885" y="696377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15616" y="573087"/>
            <a:ext cx="13766990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ARCHITECTURE DIAGRAM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36168" y="3154218"/>
            <a:ext cx="6096000" cy="73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VALUES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9887" y="-1193305"/>
            <a:ext cx="4364942" cy="2386610"/>
            <a:chOff x="0" y="0"/>
            <a:chExt cx="1149614" cy="6285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9614" cy="628572"/>
            </a:xfrm>
            <a:custGeom>
              <a:avLst/>
              <a:gdLst/>
              <a:ahLst/>
              <a:cxnLst/>
              <a:rect r="r" b="b" t="t" l="l"/>
              <a:pathLst>
                <a:path h="628572" w="1149614">
                  <a:moveTo>
                    <a:pt x="574807" y="628572"/>
                  </a:moveTo>
                  <a:lnTo>
                    <a:pt x="1149614" y="0"/>
                  </a:lnTo>
                  <a:lnTo>
                    <a:pt x="0" y="0"/>
                  </a:lnTo>
                  <a:lnTo>
                    <a:pt x="574807" y="628572"/>
                  </a:lnTo>
                  <a:close/>
                </a:path>
              </a:pathLst>
            </a:custGeom>
            <a:solidFill>
              <a:srgbClr val="FBC6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79627" y="6798"/>
              <a:ext cx="790360" cy="329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true" rot="5400000">
            <a:off x="-1247163" y="-160646"/>
            <a:ext cx="4962244" cy="4962244"/>
          </a:xfrm>
          <a:custGeom>
            <a:avLst/>
            <a:gdLst/>
            <a:ahLst/>
            <a:cxnLst/>
            <a:rect r="r" b="b" t="t" l="l"/>
            <a:pathLst>
              <a:path h="4962244" w="4962244">
                <a:moveTo>
                  <a:pt x="0" y="4962244"/>
                </a:moveTo>
                <a:lnTo>
                  <a:pt x="4962244" y="4962244"/>
                </a:lnTo>
                <a:lnTo>
                  <a:pt x="4962244" y="0"/>
                </a:lnTo>
                <a:lnTo>
                  <a:pt x="0" y="0"/>
                </a:lnTo>
                <a:lnTo>
                  <a:pt x="0" y="4962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2739092" y="-1291235"/>
            <a:ext cx="4364942" cy="2386610"/>
            <a:chOff x="0" y="0"/>
            <a:chExt cx="1149614" cy="6285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9614" cy="628572"/>
            </a:xfrm>
            <a:custGeom>
              <a:avLst/>
              <a:gdLst/>
              <a:ahLst/>
              <a:cxnLst/>
              <a:rect r="r" b="b" t="t" l="l"/>
              <a:pathLst>
                <a:path h="628572" w="1149614">
                  <a:moveTo>
                    <a:pt x="574807" y="628572"/>
                  </a:moveTo>
                  <a:lnTo>
                    <a:pt x="1149614" y="0"/>
                  </a:lnTo>
                  <a:lnTo>
                    <a:pt x="0" y="0"/>
                  </a:lnTo>
                  <a:lnTo>
                    <a:pt x="574807" y="628572"/>
                  </a:lnTo>
                  <a:close/>
                </a:path>
              </a:pathLst>
            </a:custGeom>
            <a:solidFill>
              <a:srgbClr val="FBC61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79627" y="6798"/>
              <a:ext cx="790360" cy="329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14572919" y="-160646"/>
            <a:ext cx="4962244" cy="4962244"/>
          </a:xfrm>
          <a:custGeom>
            <a:avLst/>
            <a:gdLst/>
            <a:ahLst/>
            <a:cxnLst/>
            <a:rect r="r" b="b" t="t" l="l"/>
            <a:pathLst>
              <a:path h="4962244" w="4962244">
                <a:moveTo>
                  <a:pt x="0" y="0"/>
                </a:moveTo>
                <a:lnTo>
                  <a:pt x="4962244" y="0"/>
                </a:lnTo>
                <a:lnTo>
                  <a:pt x="4962244" y="4962244"/>
                </a:lnTo>
                <a:lnTo>
                  <a:pt x="0" y="4962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3715081" y="2915468"/>
            <a:ext cx="11301259" cy="6342832"/>
          </a:xfrm>
          <a:custGeom>
            <a:avLst/>
            <a:gdLst/>
            <a:ahLst/>
            <a:cxnLst/>
            <a:rect r="r" b="b" t="t" l="l"/>
            <a:pathLst>
              <a:path h="6342832" w="11301259">
                <a:moveTo>
                  <a:pt x="0" y="0"/>
                </a:moveTo>
                <a:lnTo>
                  <a:pt x="11301259" y="0"/>
                </a:lnTo>
                <a:lnTo>
                  <a:pt x="11301259" y="6342832"/>
                </a:lnTo>
                <a:lnTo>
                  <a:pt x="0" y="6342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84614" y="1639136"/>
            <a:ext cx="6318772" cy="5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2"/>
              </a:lnSpc>
              <a:spcBef>
                <a:spcPct val="0"/>
              </a:spcBef>
            </a:pPr>
            <a:r>
              <a:rPr lang="en-US" sz="3123">
                <a:solidFill>
                  <a:srgbClr val="034383"/>
                </a:solidFill>
                <a:latin typeface="Fredoka"/>
                <a:ea typeface="Fredoka"/>
                <a:cs typeface="Fredoka"/>
                <a:sym typeface="Fredoka"/>
              </a:rPr>
              <a:t>System Architecture Overview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4514" y="1568116"/>
            <a:ext cx="15584786" cy="185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FUNCTIONAL REQUIREMENTS</a:t>
            </a:r>
          </a:p>
          <a:p>
            <a:pPr algn="ctr">
              <a:lnSpc>
                <a:spcPts val="715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true" flipV="false" rot="-5400000">
            <a:off x="-835100" y="-864327"/>
            <a:ext cx="6157558" cy="6157558"/>
          </a:xfrm>
          <a:custGeom>
            <a:avLst/>
            <a:gdLst/>
            <a:ahLst/>
            <a:cxnLst/>
            <a:rect r="r" b="b" t="t" l="l"/>
            <a:pathLst>
              <a:path h="6157558" w="6157558">
                <a:moveTo>
                  <a:pt x="6157558" y="0"/>
                </a:moveTo>
                <a:lnTo>
                  <a:pt x="0" y="0"/>
                </a:lnTo>
                <a:lnTo>
                  <a:pt x="0" y="6157557"/>
                </a:lnTo>
                <a:lnTo>
                  <a:pt x="6157558" y="6157557"/>
                </a:lnTo>
                <a:lnTo>
                  <a:pt x="61575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2054874" y="4407966"/>
            <a:ext cx="14178251" cy="2863590"/>
            <a:chOff x="0" y="0"/>
            <a:chExt cx="6100745" cy="12321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00745" cy="1232171"/>
            </a:xfrm>
            <a:custGeom>
              <a:avLst/>
              <a:gdLst/>
              <a:ahLst/>
              <a:cxnLst/>
              <a:rect r="r" b="b" t="t" l="l"/>
              <a:pathLst>
                <a:path h="1232171" w="6100745">
                  <a:moveTo>
                    <a:pt x="0" y="0"/>
                  </a:moveTo>
                  <a:lnTo>
                    <a:pt x="6100745" y="0"/>
                  </a:lnTo>
                  <a:lnTo>
                    <a:pt x="6100745" y="1232171"/>
                  </a:lnTo>
                  <a:lnTo>
                    <a:pt x="0" y="1232171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100745" cy="1270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true" rot="-5400000">
            <a:off x="12814394" y="6970349"/>
            <a:ext cx="6157558" cy="6157558"/>
          </a:xfrm>
          <a:custGeom>
            <a:avLst/>
            <a:gdLst/>
            <a:ahLst/>
            <a:cxnLst/>
            <a:rect r="r" b="b" t="t" l="l"/>
            <a:pathLst>
              <a:path h="6157558" w="6157558">
                <a:moveTo>
                  <a:pt x="0" y="6157558"/>
                </a:moveTo>
                <a:lnTo>
                  <a:pt x="6157558" y="6157558"/>
                </a:lnTo>
                <a:lnTo>
                  <a:pt x="6157558" y="0"/>
                </a:lnTo>
                <a:lnTo>
                  <a:pt x="0" y="0"/>
                </a:lnTo>
                <a:lnTo>
                  <a:pt x="0" y="61575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489636" y="4013718"/>
            <a:ext cx="13308727" cy="3652085"/>
            <a:chOff x="0" y="0"/>
            <a:chExt cx="5726599" cy="15714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26599" cy="1571452"/>
            </a:xfrm>
            <a:custGeom>
              <a:avLst/>
              <a:gdLst/>
              <a:ahLst/>
              <a:cxnLst/>
              <a:rect r="r" b="b" t="t" l="l"/>
              <a:pathLst>
                <a:path h="1571452" w="5726599">
                  <a:moveTo>
                    <a:pt x="0" y="0"/>
                  </a:moveTo>
                  <a:lnTo>
                    <a:pt x="5726599" y="0"/>
                  </a:lnTo>
                  <a:lnTo>
                    <a:pt x="5726599" y="1571452"/>
                  </a:lnTo>
                  <a:lnTo>
                    <a:pt x="0" y="1571452"/>
                  </a:lnTo>
                  <a:close/>
                </a:path>
              </a:pathLst>
            </a:custGeom>
            <a:solidFill>
              <a:srgbClr val="EFEF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726599" cy="1638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00000"/>
                  </a:solidFill>
                  <a:latin typeface="Ubuntu"/>
                  <a:ea typeface="Ubuntu"/>
                  <a:cs typeface="Ubuntu"/>
                  <a:sym typeface="Ubuntu"/>
                </a:rPr>
                <a:t>The system will allow users to log in. </a:t>
              </a:r>
            </a:p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00000"/>
                  </a:solidFill>
                  <a:latin typeface="Ubuntu"/>
                  <a:ea typeface="Ubuntu"/>
                  <a:cs typeface="Ubuntu"/>
                  <a:sym typeface="Ubuntu"/>
                </a:rPr>
                <a:t>The system will allow users to view a list of children they have added. </a:t>
              </a:r>
            </a:p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00000"/>
                  </a:solidFill>
                  <a:latin typeface="Ubuntu"/>
                  <a:ea typeface="Ubuntu"/>
                  <a:cs typeface="Ubuntu"/>
                  <a:sym typeface="Ubuntu"/>
                </a:rPr>
                <a:t>The system will allow users to add a new child.</a:t>
              </a:r>
            </a:p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00000"/>
                  </a:solidFill>
                  <a:latin typeface="Ubuntu"/>
                  <a:ea typeface="Ubuntu"/>
                  <a:cs typeface="Ubuntu"/>
                  <a:sym typeface="Ubuntu"/>
                </a:rPr>
                <a:t> The system will allow users to upload diagnostic files for a child.</a:t>
              </a:r>
            </a:p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00000"/>
                  </a:solidFill>
                  <a:latin typeface="Ubuntu"/>
                  <a:ea typeface="Ubuntu"/>
                  <a:cs typeface="Ubuntu"/>
                  <a:sym typeface="Ubuntu"/>
                </a:rPr>
                <a:t> The system will generate personalized treatment plans for each child.</a:t>
              </a:r>
            </a:p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00000"/>
                  </a:solidFill>
                  <a:latin typeface="Ubuntu"/>
                  <a:ea typeface="Ubuntu"/>
                  <a:cs typeface="Ubuntu"/>
                  <a:sym typeface="Ubuntu"/>
                </a:rPr>
                <a:t> The system will display growth charts for weight and height.</a:t>
              </a:r>
            </a:p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00000"/>
                  </a:solidFill>
                  <a:latin typeface="Ubuntu"/>
                  <a:ea typeface="Ubuntu"/>
                  <a:cs typeface="Ubuntu"/>
                  <a:sym typeface="Ubuntu"/>
                </a:rPr>
                <a:t> The system will allow users to update physical measurements for their children.</a:t>
              </a:r>
            </a:p>
            <a:p>
              <a:pPr algn="just">
                <a:lnSpc>
                  <a:spcPts val="3575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02400" y="1592264"/>
            <a:ext cx="15584786" cy="185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NON-FUNCTIONAL REQUIREMENTS</a:t>
            </a:r>
          </a:p>
          <a:p>
            <a:pPr algn="ctr">
              <a:lnSpc>
                <a:spcPts val="715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true" flipV="false" rot="-5400000">
            <a:off x="-835100" y="-864327"/>
            <a:ext cx="6157558" cy="6157558"/>
          </a:xfrm>
          <a:custGeom>
            <a:avLst/>
            <a:gdLst/>
            <a:ahLst/>
            <a:cxnLst/>
            <a:rect r="r" b="b" t="t" l="l"/>
            <a:pathLst>
              <a:path h="6157558" w="6157558">
                <a:moveTo>
                  <a:pt x="6157558" y="0"/>
                </a:moveTo>
                <a:lnTo>
                  <a:pt x="0" y="0"/>
                </a:lnTo>
                <a:lnTo>
                  <a:pt x="0" y="6157557"/>
                </a:lnTo>
                <a:lnTo>
                  <a:pt x="6157558" y="6157557"/>
                </a:lnTo>
                <a:lnTo>
                  <a:pt x="61575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1733363" y="3941023"/>
            <a:ext cx="15525937" cy="3515590"/>
            <a:chOff x="0" y="0"/>
            <a:chExt cx="6680640" cy="1512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80640" cy="1512720"/>
            </a:xfrm>
            <a:custGeom>
              <a:avLst/>
              <a:gdLst/>
              <a:ahLst/>
              <a:cxnLst/>
              <a:rect r="r" b="b" t="t" l="l"/>
              <a:pathLst>
                <a:path h="1512720" w="6680640">
                  <a:moveTo>
                    <a:pt x="0" y="0"/>
                  </a:moveTo>
                  <a:lnTo>
                    <a:pt x="6680640" y="0"/>
                  </a:lnTo>
                  <a:lnTo>
                    <a:pt x="6680640" y="1512720"/>
                  </a:lnTo>
                  <a:lnTo>
                    <a:pt x="0" y="1512720"/>
                  </a:lnTo>
                  <a:close/>
                </a:path>
              </a:pathLst>
            </a:custGeom>
            <a:solidFill>
              <a:srgbClr val="FBC6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680640" cy="1550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true" rot="-5400000">
            <a:off x="12814394" y="6970349"/>
            <a:ext cx="6157558" cy="6157558"/>
          </a:xfrm>
          <a:custGeom>
            <a:avLst/>
            <a:gdLst/>
            <a:ahLst/>
            <a:cxnLst/>
            <a:rect r="r" b="b" t="t" l="l"/>
            <a:pathLst>
              <a:path h="6157558" w="6157558">
                <a:moveTo>
                  <a:pt x="0" y="6157558"/>
                </a:moveTo>
                <a:lnTo>
                  <a:pt x="6157558" y="6157558"/>
                </a:lnTo>
                <a:lnTo>
                  <a:pt x="6157558" y="0"/>
                </a:lnTo>
                <a:lnTo>
                  <a:pt x="0" y="0"/>
                </a:lnTo>
                <a:lnTo>
                  <a:pt x="0" y="61575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078398" y="3370264"/>
            <a:ext cx="14871229" cy="4995110"/>
            <a:chOff x="0" y="0"/>
            <a:chExt cx="6398926" cy="21493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98926" cy="2149341"/>
            </a:xfrm>
            <a:custGeom>
              <a:avLst/>
              <a:gdLst/>
              <a:ahLst/>
              <a:cxnLst/>
              <a:rect r="r" b="b" t="t" l="l"/>
              <a:pathLst>
                <a:path h="2149341" w="6398926">
                  <a:moveTo>
                    <a:pt x="0" y="0"/>
                  </a:moveTo>
                  <a:lnTo>
                    <a:pt x="6398926" y="0"/>
                  </a:lnTo>
                  <a:lnTo>
                    <a:pt x="6398926" y="2149341"/>
                  </a:lnTo>
                  <a:lnTo>
                    <a:pt x="0" y="2149341"/>
                  </a:lnTo>
                  <a:close/>
                </a:path>
              </a:pathLst>
            </a:custGeom>
            <a:solidFill>
              <a:srgbClr val="EFEF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398926" cy="2216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D1D29"/>
                  </a:solidFill>
                  <a:latin typeface="Ubuntu"/>
                  <a:ea typeface="Ubuntu"/>
                  <a:cs typeface="Ubuntu"/>
                  <a:sym typeface="Ubuntu"/>
                </a:rPr>
                <a:t>The system interface shall be intuitive and user-friendly, allowing easy navigation for all users.</a:t>
              </a:r>
            </a:p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D1D29"/>
                  </a:solidFill>
                  <a:latin typeface="Ubuntu"/>
                  <a:ea typeface="Ubuntu"/>
                  <a:cs typeface="Ubuntu"/>
                  <a:sym typeface="Ubuntu"/>
                </a:rPr>
                <a:t>The platform shall be responsive and adapt to various screen sizes, ensuring usability on desktop, tablet, and mobile devices.</a:t>
              </a:r>
            </a:p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D1D29"/>
                  </a:solidFill>
                  <a:latin typeface="Ubuntu"/>
                  <a:ea typeface="Ubuntu"/>
                  <a:cs typeface="Ubuntu"/>
                  <a:sym typeface="Ubuntu"/>
                </a:rPr>
                <a:t>The system shall load pages within 2 seconds under normal network conditions.</a:t>
              </a:r>
            </a:p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D1D29"/>
                  </a:solidFill>
                  <a:latin typeface="Ubuntu"/>
                  <a:ea typeface="Ubuntu"/>
                  <a:cs typeface="Ubuntu"/>
                  <a:sym typeface="Ubuntu"/>
                </a:rPr>
                <a:t>File uploads (up to 10MB) shall be processed within 5 seconds.</a:t>
              </a:r>
            </a:p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D1D29"/>
                  </a:solidFill>
                  <a:latin typeface="Ubuntu"/>
                  <a:ea typeface="Ubuntu"/>
                  <a:cs typeface="Ubuntu"/>
                  <a:sym typeface="Ubuntu"/>
                </a:rPr>
                <a:t>Recommendation generation shall be completed within 3 seconds.</a:t>
              </a:r>
            </a:p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D1D29"/>
                  </a:solidFill>
                  <a:latin typeface="Ubuntu"/>
                  <a:ea typeface="Ubuntu"/>
                  <a:cs typeface="Ubuntu"/>
                  <a:sym typeface="Ubuntu"/>
                </a:rPr>
                <a:t>The system shall automatically log out inactive users after 15 minutes for security purposes.</a:t>
              </a:r>
            </a:p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D1D29"/>
                  </a:solidFill>
                  <a:latin typeface="Ubuntu"/>
                  <a:ea typeface="Ubuntu"/>
                  <a:cs typeface="Ubuntu"/>
                  <a:sym typeface="Ubuntu"/>
                </a:rPr>
                <a:t>The system shall ensure that all stored data remains accurate, complete, and reliable across all operations.</a:t>
              </a:r>
            </a:p>
            <a:p>
              <a:pPr algn="just" marL="551468" indent="-275734" lvl="1">
                <a:lnSpc>
                  <a:spcPts val="3575"/>
                </a:lnSpc>
                <a:buAutoNum type="arabicPeriod" startAt="1"/>
              </a:pPr>
              <a:r>
                <a:rPr lang="en-US" sz="2554">
                  <a:solidFill>
                    <a:srgbClr val="0D1D29"/>
                  </a:solidFill>
                  <a:latin typeface="Ubuntu"/>
                  <a:ea typeface="Ubuntu"/>
                  <a:cs typeface="Ubuntu"/>
                  <a:sym typeface="Ubuntu"/>
                </a:rPr>
                <a:t>The platform shall support Windows, macOS, iOS, and Android, ensuring consistent functionality across different operating systems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831070"/>
            <a:ext cx="9873830" cy="11243492"/>
          </a:xfrm>
          <a:custGeom>
            <a:avLst/>
            <a:gdLst/>
            <a:ahLst/>
            <a:cxnLst/>
            <a:rect r="r" b="b" t="t" l="l"/>
            <a:pathLst>
              <a:path h="11243492" w="9873830">
                <a:moveTo>
                  <a:pt x="0" y="0"/>
                </a:moveTo>
                <a:lnTo>
                  <a:pt x="9873830" y="0"/>
                </a:lnTo>
                <a:lnTo>
                  <a:pt x="9873830" y="11243492"/>
                </a:lnTo>
                <a:lnTo>
                  <a:pt x="0" y="11243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8414170" y="0"/>
            <a:ext cx="9873830" cy="11243492"/>
          </a:xfrm>
          <a:custGeom>
            <a:avLst/>
            <a:gdLst/>
            <a:ahLst/>
            <a:cxnLst/>
            <a:rect r="r" b="b" t="t" l="l"/>
            <a:pathLst>
              <a:path h="11243492" w="9873830">
                <a:moveTo>
                  <a:pt x="9873830" y="11243492"/>
                </a:moveTo>
                <a:lnTo>
                  <a:pt x="0" y="11243492"/>
                </a:lnTo>
                <a:lnTo>
                  <a:pt x="0" y="0"/>
                </a:lnTo>
                <a:lnTo>
                  <a:pt x="9873830" y="0"/>
                </a:lnTo>
                <a:lnTo>
                  <a:pt x="9873830" y="112434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82694" y="4305179"/>
            <a:ext cx="11922611" cy="175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31"/>
              </a:lnSpc>
            </a:pPr>
            <a:r>
              <a:rPr lang="en-US" b="true" sz="12028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PROTOTYPE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694" y="-166154"/>
            <a:ext cx="10631517" cy="10631517"/>
          </a:xfrm>
          <a:custGeom>
            <a:avLst/>
            <a:gdLst/>
            <a:ahLst/>
            <a:cxnLst/>
            <a:rect r="r" b="b" t="t" l="l"/>
            <a:pathLst>
              <a:path h="10631517" w="10631517">
                <a:moveTo>
                  <a:pt x="0" y="0"/>
                </a:moveTo>
                <a:lnTo>
                  <a:pt x="10631517" y="0"/>
                </a:lnTo>
                <a:lnTo>
                  <a:pt x="10631517" y="10631517"/>
                </a:lnTo>
                <a:lnTo>
                  <a:pt x="0" y="1063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800000">
            <a:off x="7897177" y="-178363"/>
            <a:ext cx="10631517" cy="10631517"/>
          </a:xfrm>
          <a:custGeom>
            <a:avLst/>
            <a:gdLst/>
            <a:ahLst/>
            <a:cxnLst/>
            <a:rect r="r" b="b" t="t" l="l"/>
            <a:pathLst>
              <a:path h="10631517" w="10631517">
                <a:moveTo>
                  <a:pt x="0" y="0"/>
                </a:moveTo>
                <a:lnTo>
                  <a:pt x="10631517" y="0"/>
                </a:lnTo>
                <a:lnTo>
                  <a:pt x="10631517" y="10631517"/>
                </a:lnTo>
                <a:lnTo>
                  <a:pt x="0" y="1063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-10800000">
            <a:off x="6938080" y="8246207"/>
            <a:ext cx="6064231" cy="1370341"/>
            <a:chOff x="0" y="0"/>
            <a:chExt cx="1597164" cy="360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7164" cy="360913"/>
            </a:xfrm>
            <a:custGeom>
              <a:avLst/>
              <a:gdLst/>
              <a:ahLst/>
              <a:cxnLst/>
              <a:rect r="r" b="b" t="t" l="l"/>
              <a:pathLst>
                <a:path h="360913" w="1597164">
                  <a:moveTo>
                    <a:pt x="0" y="0"/>
                  </a:moveTo>
                  <a:lnTo>
                    <a:pt x="1597164" y="0"/>
                  </a:lnTo>
                  <a:lnTo>
                    <a:pt x="1597164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97164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-1456230" y="9616548"/>
            <a:ext cx="9626215" cy="1370341"/>
            <a:chOff x="0" y="0"/>
            <a:chExt cx="2535300" cy="3609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35300" cy="360913"/>
            </a:xfrm>
            <a:custGeom>
              <a:avLst/>
              <a:gdLst/>
              <a:ahLst/>
              <a:cxnLst/>
              <a:rect r="r" b="b" t="t" l="l"/>
              <a:pathLst>
                <a:path h="360913" w="2535300">
                  <a:moveTo>
                    <a:pt x="0" y="0"/>
                  </a:moveTo>
                  <a:lnTo>
                    <a:pt x="2535300" y="0"/>
                  </a:lnTo>
                  <a:lnTo>
                    <a:pt x="2535300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35300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85690" y="670452"/>
            <a:ext cx="6064231" cy="1370341"/>
            <a:chOff x="0" y="0"/>
            <a:chExt cx="1597164" cy="3609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7164" cy="360913"/>
            </a:xfrm>
            <a:custGeom>
              <a:avLst/>
              <a:gdLst/>
              <a:ahLst/>
              <a:cxnLst/>
              <a:rect r="r" b="b" t="t" l="l"/>
              <a:pathLst>
                <a:path h="360913" w="1597164">
                  <a:moveTo>
                    <a:pt x="0" y="0"/>
                  </a:moveTo>
                  <a:lnTo>
                    <a:pt x="1597164" y="0"/>
                  </a:lnTo>
                  <a:lnTo>
                    <a:pt x="1597164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97164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18015" y="-699889"/>
            <a:ext cx="9626215" cy="1370341"/>
            <a:chOff x="0" y="0"/>
            <a:chExt cx="2535300" cy="3609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5300" cy="360913"/>
            </a:xfrm>
            <a:custGeom>
              <a:avLst/>
              <a:gdLst/>
              <a:ahLst/>
              <a:cxnLst/>
              <a:rect r="r" b="b" t="t" l="l"/>
              <a:pathLst>
                <a:path h="360913" w="2535300">
                  <a:moveTo>
                    <a:pt x="0" y="0"/>
                  </a:moveTo>
                  <a:lnTo>
                    <a:pt x="2535300" y="0"/>
                  </a:lnTo>
                  <a:lnTo>
                    <a:pt x="2535300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35300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09665" y="3391431"/>
            <a:ext cx="7934335" cy="4142415"/>
          </a:xfrm>
          <a:custGeom>
            <a:avLst/>
            <a:gdLst/>
            <a:ahLst/>
            <a:cxnLst/>
            <a:rect r="r" b="b" t="t" l="l"/>
            <a:pathLst>
              <a:path h="4142415" w="7934335">
                <a:moveTo>
                  <a:pt x="0" y="0"/>
                </a:moveTo>
                <a:lnTo>
                  <a:pt x="7934335" y="0"/>
                </a:lnTo>
                <a:lnTo>
                  <a:pt x="7934335" y="4142414"/>
                </a:lnTo>
                <a:lnTo>
                  <a:pt x="0" y="4142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037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388613" y="3464668"/>
            <a:ext cx="7623751" cy="4069177"/>
          </a:xfrm>
          <a:custGeom>
            <a:avLst/>
            <a:gdLst/>
            <a:ahLst/>
            <a:cxnLst/>
            <a:rect r="r" b="b" t="t" l="l"/>
            <a:pathLst>
              <a:path h="4069177" w="7623751">
                <a:moveTo>
                  <a:pt x="0" y="0"/>
                </a:moveTo>
                <a:lnTo>
                  <a:pt x="7623751" y="0"/>
                </a:lnTo>
                <a:lnTo>
                  <a:pt x="7623751" y="4069177"/>
                </a:lnTo>
                <a:lnTo>
                  <a:pt x="0" y="4069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43469" y="1575329"/>
            <a:ext cx="15315831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LOGIN &amp; CHILD SELECTION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694" y="-166154"/>
            <a:ext cx="10631517" cy="10631517"/>
          </a:xfrm>
          <a:custGeom>
            <a:avLst/>
            <a:gdLst/>
            <a:ahLst/>
            <a:cxnLst/>
            <a:rect r="r" b="b" t="t" l="l"/>
            <a:pathLst>
              <a:path h="10631517" w="10631517">
                <a:moveTo>
                  <a:pt x="0" y="0"/>
                </a:moveTo>
                <a:lnTo>
                  <a:pt x="10631517" y="0"/>
                </a:lnTo>
                <a:lnTo>
                  <a:pt x="10631517" y="10631517"/>
                </a:lnTo>
                <a:lnTo>
                  <a:pt x="0" y="1063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800000">
            <a:off x="7897177" y="-178363"/>
            <a:ext cx="10631517" cy="10631517"/>
          </a:xfrm>
          <a:custGeom>
            <a:avLst/>
            <a:gdLst/>
            <a:ahLst/>
            <a:cxnLst/>
            <a:rect r="r" b="b" t="t" l="l"/>
            <a:pathLst>
              <a:path h="10631517" w="10631517">
                <a:moveTo>
                  <a:pt x="0" y="0"/>
                </a:moveTo>
                <a:lnTo>
                  <a:pt x="10631517" y="0"/>
                </a:lnTo>
                <a:lnTo>
                  <a:pt x="10631517" y="10631517"/>
                </a:lnTo>
                <a:lnTo>
                  <a:pt x="0" y="1063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-10800000">
            <a:off x="6938080" y="8246207"/>
            <a:ext cx="6064231" cy="1370341"/>
            <a:chOff x="0" y="0"/>
            <a:chExt cx="1597164" cy="360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7164" cy="360913"/>
            </a:xfrm>
            <a:custGeom>
              <a:avLst/>
              <a:gdLst/>
              <a:ahLst/>
              <a:cxnLst/>
              <a:rect r="r" b="b" t="t" l="l"/>
              <a:pathLst>
                <a:path h="360913" w="1597164">
                  <a:moveTo>
                    <a:pt x="0" y="0"/>
                  </a:moveTo>
                  <a:lnTo>
                    <a:pt x="1597164" y="0"/>
                  </a:lnTo>
                  <a:lnTo>
                    <a:pt x="1597164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97164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-1456230" y="9616548"/>
            <a:ext cx="9626215" cy="1370341"/>
            <a:chOff x="0" y="0"/>
            <a:chExt cx="2535300" cy="3609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35300" cy="360913"/>
            </a:xfrm>
            <a:custGeom>
              <a:avLst/>
              <a:gdLst/>
              <a:ahLst/>
              <a:cxnLst/>
              <a:rect r="r" b="b" t="t" l="l"/>
              <a:pathLst>
                <a:path h="360913" w="2535300">
                  <a:moveTo>
                    <a:pt x="0" y="0"/>
                  </a:moveTo>
                  <a:lnTo>
                    <a:pt x="2535300" y="0"/>
                  </a:lnTo>
                  <a:lnTo>
                    <a:pt x="2535300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35300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85690" y="670452"/>
            <a:ext cx="6064231" cy="1370341"/>
            <a:chOff x="0" y="0"/>
            <a:chExt cx="1597164" cy="3609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7164" cy="360913"/>
            </a:xfrm>
            <a:custGeom>
              <a:avLst/>
              <a:gdLst/>
              <a:ahLst/>
              <a:cxnLst/>
              <a:rect r="r" b="b" t="t" l="l"/>
              <a:pathLst>
                <a:path h="360913" w="1597164">
                  <a:moveTo>
                    <a:pt x="0" y="0"/>
                  </a:moveTo>
                  <a:lnTo>
                    <a:pt x="1597164" y="0"/>
                  </a:lnTo>
                  <a:lnTo>
                    <a:pt x="1597164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97164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18015" y="-699889"/>
            <a:ext cx="9626215" cy="1370341"/>
            <a:chOff x="0" y="0"/>
            <a:chExt cx="2535300" cy="3609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5300" cy="360913"/>
            </a:xfrm>
            <a:custGeom>
              <a:avLst/>
              <a:gdLst/>
              <a:ahLst/>
              <a:cxnLst/>
              <a:rect r="r" b="b" t="t" l="l"/>
              <a:pathLst>
                <a:path h="360913" w="2535300">
                  <a:moveTo>
                    <a:pt x="0" y="0"/>
                  </a:moveTo>
                  <a:lnTo>
                    <a:pt x="2535300" y="0"/>
                  </a:lnTo>
                  <a:lnTo>
                    <a:pt x="2535300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35300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3272780"/>
            <a:ext cx="7779361" cy="4225301"/>
          </a:xfrm>
          <a:custGeom>
            <a:avLst/>
            <a:gdLst/>
            <a:ahLst/>
            <a:cxnLst/>
            <a:rect r="r" b="b" t="t" l="l"/>
            <a:pathLst>
              <a:path h="4225301" w="7779361">
                <a:moveTo>
                  <a:pt x="0" y="0"/>
                </a:moveTo>
                <a:lnTo>
                  <a:pt x="7779361" y="0"/>
                </a:lnTo>
                <a:lnTo>
                  <a:pt x="7779361" y="4225301"/>
                </a:lnTo>
                <a:lnTo>
                  <a:pt x="0" y="42253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759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144000" y="3097107"/>
            <a:ext cx="7880299" cy="4301519"/>
          </a:xfrm>
          <a:custGeom>
            <a:avLst/>
            <a:gdLst/>
            <a:ahLst/>
            <a:cxnLst/>
            <a:rect r="r" b="b" t="t" l="l"/>
            <a:pathLst>
              <a:path h="4301519" w="7880299">
                <a:moveTo>
                  <a:pt x="0" y="0"/>
                </a:moveTo>
                <a:lnTo>
                  <a:pt x="7880299" y="0"/>
                </a:lnTo>
                <a:lnTo>
                  <a:pt x="7880299" y="4301518"/>
                </a:lnTo>
                <a:lnTo>
                  <a:pt x="0" y="43015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268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43469" y="1575329"/>
            <a:ext cx="15315831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ADD NEW CHILD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694" y="-166154"/>
            <a:ext cx="10631517" cy="10631517"/>
          </a:xfrm>
          <a:custGeom>
            <a:avLst/>
            <a:gdLst/>
            <a:ahLst/>
            <a:cxnLst/>
            <a:rect r="r" b="b" t="t" l="l"/>
            <a:pathLst>
              <a:path h="10631517" w="10631517">
                <a:moveTo>
                  <a:pt x="0" y="0"/>
                </a:moveTo>
                <a:lnTo>
                  <a:pt x="10631517" y="0"/>
                </a:lnTo>
                <a:lnTo>
                  <a:pt x="10631517" y="10631517"/>
                </a:lnTo>
                <a:lnTo>
                  <a:pt x="0" y="1063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800000">
            <a:off x="7897177" y="-178363"/>
            <a:ext cx="10631517" cy="10631517"/>
          </a:xfrm>
          <a:custGeom>
            <a:avLst/>
            <a:gdLst/>
            <a:ahLst/>
            <a:cxnLst/>
            <a:rect r="r" b="b" t="t" l="l"/>
            <a:pathLst>
              <a:path h="10631517" w="10631517">
                <a:moveTo>
                  <a:pt x="0" y="0"/>
                </a:moveTo>
                <a:lnTo>
                  <a:pt x="10631517" y="0"/>
                </a:lnTo>
                <a:lnTo>
                  <a:pt x="10631517" y="10631517"/>
                </a:lnTo>
                <a:lnTo>
                  <a:pt x="0" y="1063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-10800000">
            <a:off x="6938080" y="8246207"/>
            <a:ext cx="6064231" cy="1370341"/>
            <a:chOff x="0" y="0"/>
            <a:chExt cx="1597164" cy="360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7164" cy="360913"/>
            </a:xfrm>
            <a:custGeom>
              <a:avLst/>
              <a:gdLst/>
              <a:ahLst/>
              <a:cxnLst/>
              <a:rect r="r" b="b" t="t" l="l"/>
              <a:pathLst>
                <a:path h="360913" w="1597164">
                  <a:moveTo>
                    <a:pt x="0" y="0"/>
                  </a:moveTo>
                  <a:lnTo>
                    <a:pt x="1597164" y="0"/>
                  </a:lnTo>
                  <a:lnTo>
                    <a:pt x="1597164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97164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-1456230" y="9616548"/>
            <a:ext cx="9626215" cy="1370341"/>
            <a:chOff x="0" y="0"/>
            <a:chExt cx="2535300" cy="3609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35300" cy="360913"/>
            </a:xfrm>
            <a:custGeom>
              <a:avLst/>
              <a:gdLst/>
              <a:ahLst/>
              <a:cxnLst/>
              <a:rect r="r" b="b" t="t" l="l"/>
              <a:pathLst>
                <a:path h="360913" w="2535300">
                  <a:moveTo>
                    <a:pt x="0" y="0"/>
                  </a:moveTo>
                  <a:lnTo>
                    <a:pt x="2535300" y="0"/>
                  </a:lnTo>
                  <a:lnTo>
                    <a:pt x="2535300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35300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85690" y="670452"/>
            <a:ext cx="6064231" cy="1370341"/>
            <a:chOff x="0" y="0"/>
            <a:chExt cx="1597164" cy="3609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7164" cy="360913"/>
            </a:xfrm>
            <a:custGeom>
              <a:avLst/>
              <a:gdLst/>
              <a:ahLst/>
              <a:cxnLst/>
              <a:rect r="r" b="b" t="t" l="l"/>
              <a:pathLst>
                <a:path h="360913" w="1597164">
                  <a:moveTo>
                    <a:pt x="0" y="0"/>
                  </a:moveTo>
                  <a:lnTo>
                    <a:pt x="1597164" y="0"/>
                  </a:lnTo>
                  <a:lnTo>
                    <a:pt x="1597164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97164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18015" y="-699889"/>
            <a:ext cx="9626215" cy="1370341"/>
            <a:chOff x="0" y="0"/>
            <a:chExt cx="2535300" cy="3609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5300" cy="360913"/>
            </a:xfrm>
            <a:custGeom>
              <a:avLst/>
              <a:gdLst/>
              <a:ahLst/>
              <a:cxnLst/>
              <a:rect r="r" b="b" t="t" l="l"/>
              <a:pathLst>
                <a:path h="360913" w="2535300">
                  <a:moveTo>
                    <a:pt x="0" y="0"/>
                  </a:moveTo>
                  <a:lnTo>
                    <a:pt x="2535300" y="0"/>
                  </a:lnTo>
                  <a:lnTo>
                    <a:pt x="2535300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35300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91155" y="3249278"/>
            <a:ext cx="6778831" cy="5415960"/>
          </a:xfrm>
          <a:custGeom>
            <a:avLst/>
            <a:gdLst/>
            <a:ahLst/>
            <a:cxnLst/>
            <a:rect r="r" b="b" t="t" l="l"/>
            <a:pathLst>
              <a:path h="5415960" w="6778831">
                <a:moveTo>
                  <a:pt x="0" y="0"/>
                </a:moveTo>
                <a:lnTo>
                  <a:pt x="6778830" y="0"/>
                </a:lnTo>
                <a:lnTo>
                  <a:pt x="6778830" y="5415960"/>
                </a:lnTo>
                <a:lnTo>
                  <a:pt x="0" y="5415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777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810303" y="1639791"/>
            <a:ext cx="15315831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TREATMENT PLAN &amp; TRACKING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374955" y="3141566"/>
            <a:ext cx="8627354" cy="4630294"/>
          </a:xfrm>
          <a:custGeom>
            <a:avLst/>
            <a:gdLst/>
            <a:ahLst/>
            <a:cxnLst/>
            <a:rect r="r" b="b" t="t" l="l"/>
            <a:pathLst>
              <a:path h="4630294" w="8627354">
                <a:moveTo>
                  <a:pt x="0" y="0"/>
                </a:moveTo>
                <a:lnTo>
                  <a:pt x="8627354" y="0"/>
                </a:lnTo>
                <a:lnTo>
                  <a:pt x="8627354" y="4630294"/>
                </a:lnTo>
                <a:lnTo>
                  <a:pt x="0" y="46302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6" t="0" r="-276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58516" y="38100"/>
            <a:ext cx="15584786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VERIFICATION PLAN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5400000">
            <a:off x="-882725" y="-1052158"/>
            <a:ext cx="6157558" cy="6157558"/>
          </a:xfrm>
          <a:custGeom>
            <a:avLst/>
            <a:gdLst/>
            <a:ahLst/>
            <a:cxnLst/>
            <a:rect r="r" b="b" t="t" l="l"/>
            <a:pathLst>
              <a:path h="6157558" w="6157558">
                <a:moveTo>
                  <a:pt x="6157558" y="0"/>
                </a:moveTo>
                <a:lnTo>
                  <a:pt x="0" y="0"/>
                </a:lnTo>
                <a:lnTo>
                  <a:pt x="0" y="6157558"/>
                </a:lnTo>
                <a:lnTo>
                  <a:pt x="6157558" y="6157558"/>
                </a:lnTo>
                <a:lnTo>
                  <a:pt x="61575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2871544" y="7056074"/>
            <a:ext cx="6157558" cy="6157558"/>
          </a:xfrm>
          <a:custGeom>
            <a:avLst/>
            <a:gdLst/>
            <a:ahLst/>
            <a:cxnLst/>
            <a:rect r="r" b="b" t="t" l="l"/>
            <a:pathLst>
              <a:path h="6157558" w="6157558">
                <a:moveTo>
                  <a:pt x="0" y="6157558"/>
                </a:moveTo>
                <a:lnTo>
                  <a:pt x="6157558" y="6157558"/>
                </a:lnTo>
                <a:lnTo>
                  <a:pt x="6157558" y="0"/>
                </a:lnTo>
                <a:lnTo>
                  <a:pt x="0" y="0"/>
                </a:lnTo>
                <a:lnTo>
                  <a:pt x="0" y="61575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465933" y="1279079"/>
          <a:ext cx="14312792" cy="8667750"/>
        </p:xfrm>
        <a:graphic>
          <a:graphicData uri="http://schemas.openxmlformats.org/drawingml/2006/table">
            <a:tbl>
              <a:tblPr/>
              <a:tblGrid>
                <a:gridCol w="1292342"/>
                <a:gridCol w="2605182"/>
                <a:gridCol w="10415268"/>
              </a:tblGrid>
              <a:tr h="11097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Case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rtl="true">
                        <a:lnSpc>
                          <a:spcPts val="90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Test Case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rtl="true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Expected Result</a:t>
                      </a:r>
                      <a:endParaRPr lang="en-US" sz="1100"/>
                    </a:p>
                    <a:p>
                      <a:pPr algn="l" rtl="true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80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Login with invalid credentials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An error</a:t>
                      </a:r>
                      <a:endParaRPr lang="en-US" sz="1100"/>
                    </a:p>
                    <a:p>
                      <a:pPr algn="l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message should appear, informing the user of incorrect username or password.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28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Register with missing or invalid inputs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An error</a:t>
                      </a:r>
                      <a:endParaRPr lang="en-US" sz="1100"/>
                    </a:p>
                    <a:p>
                      <a:pPr algn="just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message should appear, specifying the required fields or validation errors.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80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Add a new child with valid details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The child should be added to the system, and the user should proceed to the next step</a:t>
                      </a:r>
                      <a:endParaRPr lang="en-US" sz="1100"/>
                    </a:p>
                    <a:p>
                      <a:pPr algn="just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to upload a diagnostic file.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80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Upload a valid diagnostic file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The file should be uploaded successfully, and the user should be redirected to the child selection page or the next relevant screen.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80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View the treatment plan for a child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The treatment plan should display the personalized recommendations, including meal plan, physical activity, sleep schedule, and hydration.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28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Update physical measurements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The system should allow the user to input updated measurements, and the graphs should refresh to reflect the</a:t>
                      </a:r>
                      <a:endParaRPr lang="en-US" sz="1100"/>
                    </a:p>
                    <a:p>
                      <a:pPr algn="l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new data.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694" y="-166154"/>
            <a:ext cx="10631517" cy="10631517"/>
          </a:xfrm>
          <a:custGeom>
            <a:avLst/>
            <a:gdLst/>
            <a:ahLst/>
            <a:cxnLst/>
            <a:rect r="r" b="b" t="t" l="l"/>
            <a:pathLst>
              <a:path h="10631517" w="10631517">
                <a:moveTo>
                  <a:pt x="0" y="0"/>
                </a:moveTo>
                <a:lnTo>
                  <a:pt x="10631517" y="0"/>
                </a:lnTo>
                <a:lnTo>
                  <a:pt x="10631517" y="10631517"/>
                </a:lnTo>
                <a:lnTo>
                  <a:pt x="0" y="1063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800000">
            <a:off x="7897177" y="-178363"/>
            <a:ext cx="10631517" cy="10631517"/>
          </a:xfrm>
          <a:custGeom>
            <a:avLst/>
            <a:gdLst/>
            <a:ahLst/>
            <a:cxnLst/>
            <a:rect r="r" b="b" t="t" l="l"/>
            <a:pathLst>
              <a:path h="10631517" w="10631517">
                <a:moveTo>
                  <a:pt x="0" y="0"/>
                </a:moveTo>
                <a:lnTo>
                  <a:pt x="10631517" y="0"/>
                </a:lnTo>
                <a:lnTo>
                  <a:pt x="10631517" y="10631517"/>
                </a:lnTo>
                <a:lnTo>
                  <a:pt x="0" y="1063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-10800000">
            <a:off x="6938080" y="8246207"/>
            <a:ext cx="6064231" cy="1370341"/>
            <a:chOff x="0" y="0"/>
            <a:chExt cx="1597164" cy="360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7164" cy="360913"/>
            </a:xfrm>
            <a:custGeom>
              <a:avLst/>
              <a:gdLst/>
              <a:ahLst/>
              <a:cxnLst/>
              <a:rect r="r" b="b" t="t" l="l"/>
              <a:pathLst>
                <a:path h="360913" w="1597164">
                  <a:moveTo>
                    <a:pt x="0" y="0"/>
                  </a:moveTo>
                  <a:lnTo>
                    <a:pt x="1597164" y="0"/>
                  </a:lnTo>
                  <a:lnTo>
                    <a:pt x="1597164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97164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-1456230" y="9616548"/>
            <a:ext cx="9626215" cy="1370341"/>
            <a:chOff x="0" y="0"/>
            <a:chExt cx="2535300" cy="3609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35300" cy="360913"/>
            </a:xfrm>
            <a:custGeom>
              <a:avLst/>
              <a:gdLst/>
              <a:ahLst/>
              <a:cxnLst/>
              <a:rect r="r" b="b" t="t" l="l"/>
              <a:pathLst>
                <a:path h="360913" w="2535300">
                  <a:moveTo>
                    <a:pt x="0" y="0"/>
                  </a:moveTo>
                  <a:lnTo>
                    <a:pt x="2535300" y="0"/>
                  </a:lnTo>
                  <a:lnTo>
                    <a:pt x="2535300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35300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85690" y="670452"/>
            <a:ext cx="6064231" cy="1370341"/>
            <a:chOff x="0" y="0"/>
            <a:chExt cx="1597164" cy="3609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7164" cy="360913"/>
            </a:xfrm>
            <a:custGeom>
              <a:avLst/>
              <a:gdLst/>
              <a:ahLst/>
              <a:cxnLst/>
              <a:rect r="r" b="b" t="t" l="l"/>
              <a:pathLst>
                <a:path h="360913" w="1597164">
                  <a:moveTo>
                    <a:pt x="0" y="0"/>
                  </a:moveTo>
                  <a:lnTo>
                    <a:pt x="1597164" y="0"/>
                  </a:lnTo>
                  <a:lnTo>
                    <a:pt x="1597164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97164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18015" y="-699889"/>
            <a:ext cx="9626215" cy="1370341"/>
            <a:chOff x="0" y="0"/>
            <a:chExt cx="2535300" cy="3609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5300" cy="360913"/>
            </a:xfrm>
            <a:custGeom>
              <a:avLst/>
              <a:gdLst/>
              <a:ahLst/>
              <a:cxnLst/>
              <a:rect r="r" b="b" t="t" l="l"/>
              <a:pathLst>
                <a:path h="360913" w="2535300">
                  <a:moveTo>
                    <a:pt x="0" y="0"/>
                  </a:moveTo>
                  <a:lnTo>
                    <a:pt x="2535300" y="0"/>
                  </a:lnTo>
                  <a:lnTo>
                    <a:pt x="2535300" y="360913"/>
                  </a:lnTo>
                  <a:lnTo>
                    <a:pt x="0" y="360913"/>
                  </a:lnTo>
                  <a:close/>
                </a:path>
              </a:pathLst>
            </a:custGeom>
            <a:solidFill>
              <a:srgbClr val="03438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35300" cy="399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396907" y="4778477"/>
            <a:ext cx="4862393" cy="4114800"/>
          </a:xfrm>
          <a:custGeom>
            <a:avLst/>
            <a:gdLst/>
            <a:ahLst/>
            <a:cxnLst/>
            <a:rect r="r" b="b" t="t" l="l"/>
            <a:pathLst>
              <a:path h="4114800" w="4862393">
                <a:moveTo>
                  <a:pt x="0" y="0"/>
                </a:moveTo>
                <a:lnTo>
                  <a:pt x="4862393" y="0"/>
                </a:lnTo>
                <a:lnTo>
                  <a:pt x="4862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74514" y="1585181"/>
            <a:ext cx="15584786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EXPECTED ACHIEVEMENTS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9414" y="3554252"/>
            <a:ext cx="11393532" cy="1262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289" indent="-254145" lvl="1">
              <a:lnSpc>
                <a:spcPts val="3295"/>
              </a:lnSpc>
              <a:buFont typeface="Arial"/>
              <a:buChar char="•"/>
            </a:pPr>
            <a:r>
              <a:rPr lang="en-US" b="true" sz="2354">
                <a:solidFill>
                  <a:srgbClr val="03438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Goal: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Create a platform that addresses FTT with personalized recommendations and progress tracking.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0138" y="5381830"/>
            <a:ext cx="11955648" cy="307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3438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Measuring Success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b="true" sz="2500">
                <a:solidFill>
                  <a:srgbClr val="0D1D2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Accuracy:</a:t>
            </a:r>
            <a:r>
              <a:rPr lang="en-US" sz="2500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 Test data inputs for children of varying ages and conditions, ensuring tailored and actionable outputs.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b="true" sz="2500">
                <a:solidFill>
                  <a:srgbClr val="0D1D2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Usability:</a:t>
            </a:r>
            <a:r>
              <a:rPr lang="en-US" sz="2500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 Collect feedback from users on different devices to improve navigation and accessibility.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b="true" sz="2500">
                <a:solidFill>
                  <a:srgbClr val="0D1D2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Engagement:</a:t>
            </a:r>
            <a:r>
              <a:rPr lang="en-US" sz="2500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 Monitor user activity, including the frequency of recommendations used and adjustments made.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9016" y="439761"/>
            <a:ext cx="15584786" cy="185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EXPECTED CHALLENGES</a:t>
            </a:r>
          </a:p>
          <a:p>
            <a:pPr algn="ctr">
              <a:lnSpc>
                <a:spcPts val="715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-9581706">
            <a:off x="477855" y="1713567"/>
            <a:ext cx="730089" cy="634998"/>
            <a:chOff x="0" y="0"/>
            <a:chExt cx="473018" cy="4114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3018" cy="411409"/>
            </a:xfrm>
            <a:custGeom>
              <a:avLst/>
              <a:gdLst/>
              <a:ahLst/>
              <a:cxnLst/>
              <a:rect r="r" b="b" t="t" l="l"/>
              <a:pathLst>
                <a:path h="411409" w="473018">
                  <a:moveTo>
                    <a:pt x="0" y="0"/>
                  </a:moveTo>
                  <a:lnTo>
                    <a:pt x="473018" y="0"/>
                  </a:lnTo>
                  <a:lnTo>
                    <a:pt x="473018" y="411409"/>
                  </a:lnTo>
                  <a:lnTo>
                    <a:pt x="0" y="411409"/>
                  </a:lnTo>
                  <a:close/>
                </a:path>
              </a:pathLst>
            </a:custGeom>
            <a:solidFill>
              <a:srgbClr val="4F3F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73018" cy="44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567737" y="1430460"/>
            <a:ext cx="9247714" cy="1959782"/>
            <a:chOff x="0" y="0"/>
            <a:chExt cx="5991508" cy="12697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91508" cy="1269724"/>
            </a:xfrm>
            <a:custGeom>
              <a:avLst/>
              <a:gdLst/>
              <a:ahLst/>
              <a:cxnLst/>
              <a:rect r="r" b="b" t="t" l="l"/>
              <a:pathLst>
                <a:path h="1269724" w="5991508">
                  <a:moveTo>
                    <a:pt x="0" y="0"/>
                  </a:moveTo>
                  <a:lnTo>
                    <a:pt x="5991508" y="0"/>
                  </a:lnTo>
                  <a:lnTo>
                    <a:pt x="5991508" y="1269724"/>
                  </a:lnTo>
                  <a:lnTo>
                    <a:pt x="0" y="1269724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91508" cy="130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384178" y="1568378"/>
            <a:ext cx="5337517" cy="634998"/>
            <a:chOff x="0" y="0"/>
            <a:chExt cx="3458127" cy="4114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8127" cy="411409"/>
            </a:xfrm>
            <a:custGeom>
              <a:avLst/>
              <a:gdLst/>
              <a:ahLst/>
              <a:cxnLst/>
              <a:rect r="r" b="b" t="t" l="l"/>
              <a:pathLst>
                <a:path h="411409" w="3458127">
                  <a:moveTo>
                    <a:pt x="0" y="0"/>
                  </a:moveTo>
                  <a:lnTo>
                    <a:pt x="3458127" y="0"/>
                  </a:lnTo>
                  <a:lnTo>
                    <a:pt x="3458127" y="411409"/>
                  </a:lnTo>
                  <a:lnTo>
                    <a:pt x="0" y="411409"/>
                  </a:lnTo>
                  <a:close/>
                </a:path>
              </a:pathLst>
            </a:custGeom>
            <a:solidFill>
              <a:srgbClr val="FBC61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458127" cy="44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67737" y="1685991"/>
            <a:ext cx="5410208" cy="106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06" indent="-269853" lvl="1">
              <a:lnSpc>
                <a:spcPts val="274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DATA INTERPRETATION</a:t>
            </a:r>
          </a:p>
          <a:p>
            <a:pPr algn="l">
              <a:lnSpc>
                <a:spcPts val="2749"/>
              </a:lnSpc>
            </a:pPr>
          </a:p>
          <a:p>
            <a:pPr algn="l" marL="0" indent="0" lvl="0">
              <a:lnSpc>
                <a:spcPts val="274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76804" y="2340134"/>
            <a:ext cx="8965161" cy="96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Developing robust methods to accurately read and process diagnostic files.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Ensuring the system correctly extracts and utilizes relevant information.</a:t>
            </a:r>
          </a:p>
          <a:p>
            <a:pPr algn="just" marL="0" indent="0" lvl="0">
              <a:lnSpc>
                <a:spcPts val="2412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-9581706">
            <a:off x="7393881" y="3770106"/>
            <a:ext cx="807667" cy="702471"/>
            <a:chOff x="0" y="0"/>
            <a:chExt cx="473018" cy="4114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3018" cy="411409"/>
            </a:xfrm>
            <a:custGeom>
              <a:avLst/>
              <a:gdLst/>
              <a:ahLst/>
              <a:cxnLst/>
              <a:rect r="r" b="b" t="t" l="l"/>
              <a:pathLst>
                <a:path h="411409" w="473018">
                  <a:moveTo>
                    <a:pt x="0" y="0"/>
                  </a:moveTo>
                  <a:lnTo>
                    <a:pt x="473018" y="0"/>
                  </a:lnTo>
                  <a:lnTo>
                    <a:pt x="473018" y="411409"/>
                  </a:lnTo>
                  <a:lnTo>
                    <a:pt x="0" y="411409"/>
                  </a:lnTo>
                  <a:close/>
                </a:path>
              </a:pathLst>
            </a:custGeom>
            <a:solidFill>
              <a:srgbClr val="20466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73018" cy="44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7493314" y="3456917"/>
            <a:ext cx="10230358" cy="2168024"/>
            <a:chOff x="0" y="0"/>
            <a:chExt cx="5991508" cy="12697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91508" cy="1269724"/>
            </a:xfrm>
            <a:custGeom>
              <a:avLst/>
              <a:gdLst/>
              <a:ahLst/>
              <a:cxnLst/>
              <a:rect r="r" b="b" t="t" l="l"/>
              <a:pathLst>
                <a:path h="1269724" w="5991508">
                  <a:moveTo>
                    <a:pt x="0" y="0"/>
                  </a:moveTo>
                  <a:lnTo>
                    <a:pt x="5991508" y="0"/>
                  </a:lnTo>
                  <a:lnTo>
                    <a:pt x="5991508" y="1269724"/>
                  </a:lnTo>
                  <a:lnTo>
                    <a:pt x="0" y="1269724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991508" cy="130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7290250" y="3609489"/>
            <a:ext cx="5904670" cy="702471"/>
            <a:chOff x="0" y="0"/>
            <a:chExt cx="3458127" cy="4114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58127" cy="411409"/>
            </a:xfrm>
            <a:custGeom>
              <a:avLst/>
              <a:gdLst/>
              <a:ahLst/>
              <a:cxnLst/>
              <a:rect r="r" b="b" t="t" l="l"/>
              <a:pathLst>
                <a:path h="411409" w="3458127">
                  <a:moveTo>
                    <a:pt x="0" y="0"/>
                  </a:moveTo>
                  <a:lnTo>
                    <a:pt x="3458127" y="0"/>
                  </a:lnTo>
                  <a:lnTo>
                    <a:pt x="3458127" y="411409"/>
                  </a:lnTo>
                  <a:lnTo>
                    <a:pt x="0" y="411409"/>
                  </a:lnTo>
                  <a:close/>
                </a:path>
              </a:pathLst>
            </a:custGeom>
            <a:solidFill>
              <a:srgbClr val="4294C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458127" cy="44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303933" y="3735562"/>
            <a:ext cx="8539390" cy="40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054" indent="-298527" lvl="1">
              <a:lnSpc>
                <a:spcPts val="3041"/>
              </a:lnSpc>
              <a:buFont typeface="Arial"/>
              <a:buChar char="•"/>
            </a:pPr>
            <a:r>
              <a:rPr lang="en-US" b="true" sz="2765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AI INTEGRATION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75705" y="4502829"/>
            <a:ext cx="9917781" cy="137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0211" indent="-215105" lvl="1">
              <a:lnSpc>
                <a:spcPts val="2789"/>
              </a:lnSpc>
              <a:buFont typeface="Arial"/>
              <a:buChar char="•"/>
            </a:pPr>
            <a:r>
              <a:rPr lang="en-US" sz="1992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Establishing seamless communication between the system and AI components.</a:t>
            </a:r>
          </a:p>
          <a:p>
            <a:pPr algn="just" marL="430211" indent="-215105" lvl="1">
              <a:lnSpc>
                <a:spcPts val="2789"/>
              </a:lnSpc>
              <a:buFont typeface="Arial"/>
              <a:buChar char="•"/>
            </a:pPr>
            <a:r>
              <a:rPr lang="en-US" sz="1992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Ensuring consistent, reliable outputs for generating personalized recommendations.</a:t>
            </a:r>
          </a:p>
          <a:p>
            <a:pPr algn="just" marL="0" indent="0" lvl="0">
              <a:lnSpc>
                <a:spcPts val="2789"/>
              </a:lnSpc>
              <a:spcBef>
                <a:spcPct val="0"/>
              </a:spcBef>
            </a:pPr>
          </a:p>
        </p:txBody>
      </p:sp>
      <p:sp>
        <p:nvSpPr>
          <p:cNvPr name="Freeform 25" id="25"/>
          <p:cNvSpPr/>
          <p:nvPr/>
        </p:nvSpPr>
        <p:spPr>
          <a:xfrm flipH="true" flipV="true" rot="0">
            <a:off x="14657615" y="-42342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6" id="26"/>
          <p:cNvGrpSpPr/>
          <p:nvPr/>
        </p:nvGrpSpPr>
        <p:grpSpPr>
          <a:xfrm rot="-9581706">
            <a:off x="659866" y="6055765"/>
            <a:ext cx="718014" cy="624496"/>
            <a:chOff x="0" y="0"/>
            <a:chExt cx="473018" cy="4114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3018" cy="411409"/>
            </a:xfrm>
            <a:custGeom>
              <a:avLst/>
              <a:gdLst/>
              <a:ahLst/>
              <a:cxnLst/>
              <a:rect r="r" b="b" t="t" l="l"/>
              <a:pathLst>
                <a:path h="411409" w="473018">
                  <a:moveTo>
                    <a:pt x="0" y="0"/>
                  </a:moveTo>
                  <a:lnTo>
                    <a:pt x="473018" y="0"/>
                  </a:lnTo>
                  <a:lnTo>
                    <a:pt x="473018" y="411409"/>
                  </a:lnTo>
                  <a:lnTo>
                    <a:pt x="0" y="411409"/>
                  </a:lnTo>
                  <a:close/>
                </a:path>
              </a:pathLst>
            </a:custGeom>
            <a:solidFill>
              <a:srgbClr val="4F3F0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73018" cy="44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10800000">
            <a:off x="748261" y="5777341"/>
            <a:ext cx="9302191" cy="1984151"/>
            <a:chOff x="0" y="0"/>
            <a:chExt cx="6128153" cy="13071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28153" cy="1307131"/>
            </a:xfrm>
            <a:custGeom>
              <a:avLst/>
              <a:gdLst/>
              <a:ahLst/>
              <a:cxnLst/>
              <a:rect r="r" b="b" t="t" l="l"/>
              <a:pathLst>
                <a:path h="1307131" w="6128153">
                  <a:moveTo>
                    <a:pt x="0" y="0"/>
                  </a:moveTo>
                  <a:lnTo>
                    <a:pt x="6128153" y="0"/>
                  </a:lnTo>
                  <a:lnTo>
                    <a:pt x="6128153" y="1307131"/>
                  </a:lnTo>
                  <a:lnTo>
                    <a:pt x="0" y="1307131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128153" cy="1345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10800000">
            <a:off x="567737" y="5912977"/>
            <a:ext cx="5249242" cy="624496"/>
            <a:chOff x="0" y="0"/>
            <a:chExt cx="3458127" cy="4114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58127" cy="411409"/>
            </a:xfrm>
            <a:custGeom>
              <a:avLst/>
              <a:gdLst/>
              <a:ahLst/>
              <a:cxnLst/>
              <a:rect r="r" b="b" t="t" l="l"/>
              <a:pathLst>
                <a:path h="411409" w="3458127">
                  <a:moveTo>
                    <a:pt x="0" y="0"/>
                  </a:moveTo>
                  <a:lnTo>
                    <a:pt x="3458127" y="0"/>
                  </a:lnTo>
                  <a:lnTo>
                    <a:pt x="3458127" y="411409"/>
                  </a:lnTo>
                  <a:lnTo>
                    <a:pt x="0" y="411409"/>
                  </a:lnTo>
                  <a:close/>
                </a:path>
              </a:pathLst>
            </a:custGeom>
            <a:solidFill>
              <a:srgbClr val="FBC61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458127" cy="44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79540" y="6031141"/>
            <a:ext cx="3746674" cy="105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780" indent="-265390" lvl="1">
              <a:lnSpc>
                <a:spcPts val="2704"/>
              </a:lnSpc>
              <a:buFont typeface="Arial"/>
              <a:buChar char="•"/>
            </a:pPr>
            <a:r>
              <a:rPr lang="en-US" b="true" sz="2458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DATA SECURITY</a:t>
            </a:r>
          </a:p>
          <a:p>
            <a:pPr algn="l">
              <a:lnSpc>
                <a:spcPts val="2704"/>
              </a:lnSpc>
            </a:pPr>
          </a:p>
          <a:p>
            <a:pPr algn="l" marL="0" indent="0" lvl="0">
              <a:lnSpc>
                <a:spcPts val="2704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843378" y="6618111"/>
            <a:ext cx="9089574" cy="1166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66252" indent="-183126" lvl="1">
              <a:lnSpc>
                <a:spcPts val="2374"/>
              </a:lnSpc>
              <a:buFont typeface="Arial"/>
              <a:buChar char="•"/>
            </a:pPr>
            <a:r>
              <a:rPr lang="en-US" sz="1696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Implementing advanced encryption techniques to safeguard sensitive medical data.</a:t>
            </a:r>
          </a:p>
          <a:p>
            <a:pPr algn="just" marL="366252" indent="-183126" lvl="1">
              <a:lnSpc>
                <a:spcPts val="2374"/>
              </a:lnSpc>
              <a:buFont typeface="Arial"/>
              <a:buChar char="•"/>
            </a:pPr>
            <a:r>
              <a:rPr lang="en-US" sz="1696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Adhering to regulatory standards like GDPR to maintain user trust and legal compliance.</a:t>
            </a:r>
          </a:p>
          <a:p>
            <a:pPr algn="just" marL="0" indent="0" lvl="0">
              <a:lnSpc>
                <a:spcPts val="2374"/>
              </a:lnSpc>
              <a:spcBef>
                <a:spcPct val="0"/>
              </a:spcBef>
            </a:pPr>
          </a:p>
        </p:txBody>
      </p:sp>
      <p:grpSp>
        <p:nvGrpSpPr>
          <p:cNvPr name="Group 37" id="37"/>
          <p:cNvGrpSpPr/>
          <p:nvPr/>
        </p:nvGrpSpPr>
        <p:grpSpPr>
          <a:xfrm rot="-9581706">
            <a:off x="7314169" y="8184061"/>
            <a:ext cx="808827" cy="703481"/>
            <a:chOff x="0" y="0"/>
            <a:chExt cx="473018" cy="41140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3018" cy="411409"/>
            </a:xfrm>
            <a:custGeom>
              <a:avLst/>
              <a:gdLst/>
              <a:ahLst/>
              <a:cxnLst/>
              <a:rect r="r" b="b" t="t" l="l"/>
              <a:pathLst>
                <a:path h="411409" w="473018">
                  <a:moveTo>
                    <a:pt x="0" y="0"/>
                  </a:moveTo>
                  <a:lnTo>
                    <a:pt x="473018" y="0"/>
                  </a:lnTo>
                  <a:lnTo>
                    <a:pt x="473018" y="411409"/>
                  </a:lnTo>
                  <a:lnTo>
                    <a:pt x="0" y="411409"/>
                  </a:lnTo>
                  <a:close/>
                </a:path>
              </a:pathLst>
            </a:custGeom>
            <a:solidFill>
              <a:srgbClr val="20466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73018" cy="44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10800000">
            <a:off x="7413745" y="7870422"/>
            <a:ext cx="10245057" cy="2171139"/>
            <a:chOff x="0" y="0"/>
            <a:chExt cx="5991508" cy="12697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991508" cy="1269724"/>
            </a:xfrm>
            <a:custGeom>
              <a:avLst/>
              <a:gdLst/>
              <a:ahLst/>
              <a:cxnLst/>
              <a:rect r="r" b="b" t="t" l="l"/>
              <a:pathLst>
                <a:path h="1269724" w="5991508">
                  <a:moveTo>
                    <a:pt x="0" y="0"/>
                  </a:moveTo>
                  <a:lnTo>
                    <a:pt x="5991508" y="0"/>
                  </a:lnTo>
                  <a:lnTo>
                    <a:pt x="5991508" y="1269724"/>
                  </a:lnTo>
                  <a:lnTo>
                    <a:pt x="0" y="1269724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991508" cy="130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-10800000">
            <a:off x="7210389" y="8023214"/>
            <a:ext cx="5913154" cy="703481"/>
            <a:chOff x="0" y="0"/>
            <a:chExt cx="3458127" cy="41140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58127" cy="411409"/>
            </a:xfrm>
            <a:custGeom>
              <a:avLst/>
              <a:gdLst/>
              <a:ahLst/>
              <a:cxnLst/>
              <a:rect r="r" b="b" t="t" l="l"/>
              <a:pathLst>
                <a:path h="411409" w="3458127">
                  <a:moveTo>
                    <a:pt x="0" y="0"/>
                  </a:moveTo>
                  <a:lnTo>
                    <a:pt x="3458127" y="0"/>
                  </a:lnTo>
                  <a:lnTo>
                    <a:pt x="3458127" y="411409"/>
                  </a:lnTo>
                  <a:lnTo>
                    <a:pt x="0" y="411409"/>
                  </a:lnTo>
                  <a:close/>
                </a:path>
              </a:pathLst>
            </a:custGeom>
            <a:solidFill>
              <a:srgbClr val="4294CE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458127" cy="44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7413745" y="8171817"/>
            <a:ext cx="4220544" cy="117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912" indent="-298956" lvl="1">
              <a:lnSpc>
                <a:spcPts val="3046"/>
              </a:lnSpc>
              <a:buFont typeface="Arial"/>
              <a:buChar char="•"/>
            </a:pPr>
            <a:r>
              <a:rPr lang="en-US" b="true" sz="276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USER TRUST</a:t>
            </a:r>
          </a:p>
          <a:p>
            <a:pPr algn="l">
              <a:lnSpc>
                <a:spcPts val="3046"/>
              </a:lnSpc>
            </a:pPr>
          </a:p>
          <a:p>
            <a:pPr algn="l" marL="0" indent="0" lvl="0">
              <a:lnSpc>
                <a:spcPts val="3046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7726771" y="8927417"/>
            <a:ext cx="9540512" cy="93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254" indent="-194127" lvl="1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798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Dem</a:t>
            </a:r>
            <a:r>
              <a:rPr lang="en-US" sz="1798" strike="noStrike" u="none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onstrating the system's accuracy and effectiveness through transparent results.</a:t>
            </a:r>
          </a:p>
          <a:p>
            <a:pPr algn="just" marL="388254" indent="-194127" lvl="1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798" strike="noStrike" u="none">
                <a:solidFill>
                  <a:srgbClr val="0D1D29"/>
                </a:solidFill>
                <a:latin typeface="Open Sans 1"/>
                <a:ea typeface="Open Sans 1"/>
                <a:cs typeface="Open Sans 1"/>
                <a:sym typeface="Open Sans 1"/>
              </a:rPr>
              <a:t>Providing a user-friendly interface and actionable insights to enhance credibility.</a:t>
            </a:r>
          </a:p>
          <a:p>
            <a:pPr algn="just" marL="0" indent="0" lvl="0">
              <a:lnSpc>
                <a:spcPts val="2517"/>
              </a:lnSpc>
              <a:spcBef>
                <a:spcPct val="0"/>
              </a:spcBef>
            </a:pP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-551090" y="659562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831070"/>
            <a:ext cx="9873830" cy="11243492"/>
          </a:xfrm>
          <a:custGeom>
            <a:avLst/>
            <a:gdLst/>
            <a:ahLst/>
            <a:cxnLst/>
            <a:rect r="r" b="b" t="t" l="l"/>
            <a:pathLst>
              <a:path h="11243492" w="9873830">
                <a:moveTo>
                  <a:pt x="0" y="0"/>
                </a:moveTo>
                <a:lnTo>
                  <a:pt x="9873830" y="0"/>
                </a:lnTo>
                <a:lnTo>
                  <a:pt x="9873830" y="11243492"/>
                </a:lnTo>
                <a:lnTo>
                  <a:pt x="0" y="11243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8414170" y="0"/>
            <a:ext cx="9873830" cy="11243492"/>
          </a:xfrm>
          <a:custGeom>
            <a:avLst/>
            <a:gdLst/>
            <a:ahLst/>
            <a:cxnLst/>
            <a:rect r="r" b="b" t="t" l="l"/>
            <a:pathLst>
              <a:path h="11243492" w="9873830">
                <a:moveTo>
                  <a:pt x="9873830" y="11243492"/>
                </a:moveTo>
                <a:lnTo>
                  <a:pt x="0" y="11243492"/>
                </a:lnTo>
                <a:lnTo>
                  <a:pt x="0" y="0"/>
                </a:lnTo>
                <a:lnTo>
                  <a:pt x="9873830" y="0"/>
                </a:lnTo>
                <a:lnTo>
                  <a:pt x="9873830" y="112434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82694" y="4305179"/>
            <a:ext cx="11922611" cy="175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31"/>
              </a:lnSpc>
            </a:pPr>
            <a:r>
              <a:rPr lang="en-US" b="true" sz="12028">
                <a:solidFill>
                  <a:srgbClr val="034383"/>
                </a:solidFill>
                <a:latin typeface="Ubuntu Bold"/>
                <a:ea typeface="Ubuntu Bold"/>
                <a:cs typeface="Ubuntu Bold"/>
                <a:sym typeface="Ubuntu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DAGdCXkewg4</dc:identifier>
  <dcterms:modified xsi:type="dcterms:W3CDTF">2011-08-01T06:04:30Z</dcterms:modified>
  <cp:revision>1</cp:revision>
  <dc:title>ThrivePath</dc:title>
</cp:coreProperties>
</file>