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8288000" cy="10287000"/>
  <p:notesSz cx="6858000" cy="9144000"/>
  <p:embeddedFontLst>
    <p:embeddedFont>
      <p:font typeface="Ubuntu" charset="1" panose="020B0504030602030204"/>
      <p:regular r:id="rId32"/>
    </p:embeddedFont>
    <p:embeddedFont>
      <p:font typeface="Suez One" charset="1" panose="00000500000000000000"/>
      <p:regular r:id="rId33"/>
    </p:embeddedFont>
    <p:embeddedFont>
      <p:font typeface="Ubuntu Bold" charset="1" panose="020B0804030602030204"/>
      <p:regular r:id="rId34"/>
    </p:embeddedFont>
    <p:embeddedFont>
      <p:font typeface="Open Sans 1" charset="1" panose="020B0606030504020204"/>
      <p:regular r:id="rId35"/>
    </p:embeddedFont>
    <p:embeddedFont>
      <p:font typeface="Open Sans 1 Bold" charset="1" panose="020B0806030504020204"/>
      <p:regular r:id="rId36"/>
    </p:embeddedFont>
    <p:embeddedFont>
      <p:font typeface="Fredoka" charset="1" panose="02000000000000000000"/>
      <p:regular r:id="rId37"/>
    </p:embeddedFont>
    <p:embeddedFont>
      <p:font typeface="Arimo" charset="1" panose="020B0604020202020204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24.png" Type="http://schemas.openxmlformats.org/officeDocument/2006/relationships/image"/><Relationship Id="rId13" Target="../media/image25.svg" Type="http://schemas.openxmlformats.org/officeDocument/2006/relationships/image"/><Relationship Id="rId14" Target="../media/image26.pn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20.png" Type="http://schemas.openxmlformats.org/officeDocument/2006/relationships/image"/><Relationship Id="rId9" Target="../media/image2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3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3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jpe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6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39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40.pn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4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42.png" Type="http://schemas.openxmlformats.org/officeDocument/2006/relationships/image"/><Relationship Id="rId5" Target="../media/image4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44.png" Type="http://schemas.openxmlformats.org/officeDocument/2006/relationships/image"/><Relationship Id="rId5" Target="../media/image45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46.png" Type="http://schemas.openxmlformats.org/officeDocument/2006/relationships/image"/><Relationship Id="rId5" Target="../media/image47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48.png" Type="http://schemas.openxmlformats.org/officeDocument/2006/relationships/image"/><Relationship Id="rId5" Target="../media/image49.sv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0.png" Type="http://schemas.openxmlformats.org/officeDocument/2006/relationships/image"/><Relationship Id="rId3" Target="../media/image51.sv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83107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0" y="0"/>
                </a:moveTo>
                <a:lnTo>
                  <a:pt x="9873830" y="0"/>
                </a:lnTo>
                <a:lnTo>
                  <a:pt x="9873830" y="11243492"/>
                </a:lnTo>
                <a:lnTo>
                  <a:pt x="0" y="112434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349317" y="4969873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8" y="6157558"/>
                </a:lnTo>
                <a:lnTo>
                  <a:pt x="6157558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458803" y="1361320"/>
            <a:ext cx="10387965" cy="2760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149"/>
              </a:lnSpc>
              <a:spcBef>
                <a:spcPct val="0"/>
              </a:spcBef>
            </a:pPr>
            <a:r>
              <a:rPr lang="en-US" sz="15821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ThrivePath</a:t>
            </a:r>
            <a:r>
              <a:rPr lang="en-US" sz="15821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889290" y="3651204"/>
            <a:ext cx="7533680" cy="1093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32"/>
              </a:lnSpc>
            </a:pPr>
            <a:r>
              <a:rPr lang="en-US" sz="3523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Overcoming FTT Through Innovation.</a:t>
            </a:r>
          </a:p>
          <a:p>
            <a:pPr algn="ctr">
              <a:lnSpc>
                <a:spcPts val="3672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549662" y="4573262"/>
            <a:ext cx="4392216" cy="107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Capstone Project Phase 1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2248646" y="6466546"/>
            <a:ext cx="461581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Kfir Sharoni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494635" y="5942671"/>
            <a:ext cx="1647587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u="sng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Students</a:t>
            </a:r>
            <a:r>
              <a:rPr lang="en-US" sz="3000" u="sng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458196" y="6990421"/>
            <a:ext cx="461581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Avishay Halifa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30796" y="7634622"/>
            <a:ext cx="5313164" cy="160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Supervisor</a:t>
            </a:r>
            <a:r>
              <a:rPr lang="en-US" sz="3000" u="sng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: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                   Dr. Natali Levi-Soskin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2855686" y="8812222"/>
            <a:ext cx="2939534" cy="160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       </a:t>
            </a:r>
            <a:r>
              <a:rPr lang="en-US" sz="3000" u="sng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Project Code: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25-1-D-17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9921455" y="5048599"/>
            <a:ext cx="3194368" cy="5228876"/>
          </a:xfrm>
          <a:custGeom>
            <a:avLst/>
            <a:gdLst/>
            <a:ahLst/>
            <a:cxnLst/>
            <a:rect r="r" b="b" t="t" l="l"/>
            <a:pathLst>
              <a:path h="5228876" w="3194368">
                <a:moveTo>
                  <a:pt x="0" y="0"/>
                </a:moveTo>
                <a:lnTo>
                  <a:pt x="3194368" y="0"/>
                </a:lnTo>
                <a:lnTo>
                  <a:pt x="3194368" y="5228876"/>
                </a:lnTo>
                <a:lnTo>
                  <a:pt x="0" y="52288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7259300" y="9182100"/>
            <a:ext cx="218509" cy="7381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360886" y="3957913"/>
            <a:ext cx="2704966" cy="3224997"/>
          </a:xfrm>
          <a:custGeom>
            <a:avLst/>
            <a:gdLst/>
            <a:ahLst/>
            <a:cxnLst/>
            <a:rect r="r" b="b" t="t" l="l"/>
            <a:pathLst>
              <a:path h="3224997" w="2704966">
                <a:moveTo>
                  <a:pt x="0" y="0"/>
                </a:moveTo>
                <a:lnTo>
                  <a:pt x="2704966" y="0"/>
                </a:lnTo>
                <a:lnTo>
                  <a:pt x="2704966" y="3224996"/>
                </a:lnTo>
                <a:lnTo>
                  <a:pt x="0" y="32249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448600" y="1585240"/>
            <a:ext cx="7035864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INTRODUCTION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19102" y="3080265"/>
            <a:ext cx="13444539" cy="4562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2506" indent="-281253" lvl="1">
              <a:lnSpc>
                <a:spcPts val="3647"/>
              </a:lnSpc>
              <a:buFont typeface="Arial"/>
              <a:buChar char="•"/>
            </a:pPr>
            <a:r>
              <a:rPr lang="en-US" sz="2605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Failure to Thrive (FTT) is a pediatric health issue affecting growth and development, requiring multifaceted care. Current solutions often lack integration, creating challenges for families and professionals.</a:t>
            </a:r>
          </a:p>
          <a:p>
            <a:pPr algn="l">
              <a:lnSpc>
                <a:spcPts val="3647"/>
              </a:lnSpc>
            </a:pPr>
          </a:p>
          <a:p>
            <a:pPr algn="l" marL="562506" indent="-281253" lvl="1">
              <a:lnSpc>
                <a:spcPts val="3647"/>
              </a:lnSpc>
              <a:buFont typeface="Arial"/>
              <a:buChar char="•"/>
            </a:pPr>
            <a:r>
              <a:rPr lang="en-US" sz="2605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We propose a website that analyzes diagnostic data to provide personalized recommendations like meal plans and supplements, bridging gaps between diagnosis and care.</a:t>
            </a:r>
          </a:p>
          <a:p>
            <a:pPr algn="l">
              <a:lnSpc>
                <a:spcPts val="3647"/>
              </a:lnSpc>
            </a:pPr>
          </a:p>
          <a:p>
            <a:pPr algn="l" marL="562506" indent="-281253" lvl="1">
              <a:lnSpc>
                <a:spcPts val="3647"/>
              </a:lnSpc>
              <a:buFont typeface="Arial"/>
              <a:buChar char="•"/>
            </a:pPr>
            <a:r>
              <a:rPr lang="en-US" sz="2605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Parents, caregivers, and professionals gain actionable insights, while children with FTT receive timely, tailored support for improved outcomes.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92127" y="1618283"/>
            <a:ext cx="15702433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EFFECTS AND PREVALENCE OF FTT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3303040" y="5105753"/>
            <a:ext cx="3743692" cy="3028987"/>
          </a:xfrm>
          <a:custGeom>
            <a:avLst/>
            <a:gdLst/>
            <a:ahLst/>
            <a:cxnLst/>
            <a:rect r="r" b="b" t="t" l="l"/>
            <a:pathLst>
              <a:path h="3028987" w="3743692">
                <a:moveTo>
                  <a:pt x="0" y="0"/>
                </a:moveTo>
                <a:lnTo>
                  <a:pt x="3743692" y="0"/>
                </a:lnTo>
                <a:lnTo>
                  <a:pt x="3743692" y="3028986"/>
                </a:lnTo>
                <a:lnTo>
                  <a:pt x="0" y="30289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009775" y="3071847"/>
            <a:ext cx="10931315" cy="1471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8" indent="-302259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Impact on Children</a:t>
            </a:r>
          </a:p>
          <a:p>
            <a:pPr algn="just" marL="0" indent="0" lvl="0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FTT slows growth, weakens immunity, and delays learning, with emotional struggles like withdrawal and attachment issues.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09775" y="7056800"/>
            <a:ext cx="10617390" cy="295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Prevalence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FTT a</a:t>
            </a:r>
            <a:r>
              <a:rPr lang="en-US" sz="27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ffects 5–10% of children in primary care and 3–5% in hospitals in the U.S.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Most cases are identified before 18 months, a critical growth period</a:t>
            </a:r>
          </a:p>
          <a:p>
            <a:pPr algn="l">
              <a:lnSpc>
                <a:spcPts val="3919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892127" y="5148316"/>
            <a:ext cx="10931315" cy="1471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6" indent="-302258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Impact on Families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Families face stress, guilt, and financial strain, requiring support to manage challenges and improve outcomes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32318" y="9792116"/>
            <a:ext cx="9707932" cy="387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5"/>
              </a:lnSpc>
              <a:spcBef>
                <a:spcPct val="0"/>
              </a:spcBef>
            </a:pPr>
            <a:r>
              <a:rPr lang="en-US" b="true" sz="2354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*Failure to Thrive: An Update, Cole, S. Z., &amp; Lanham, J. S. (2011)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92127" y="1532558"/>
            <a:ext cx="15702433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TREATING FAILURE TO THRIVE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4862816" y="4655832"/>
            <a:ext cx="3109452" cy="2787200"/>
          </a:xfrm>
          <a:custGeom>
            <a:avLst/>
            <a:gdLst/>
            <a:ahLst/>
            <a:cxnLst/>
            <a:rect r="r" b="b" t="t" l="l"/>
            <a:pathLst>
              <a:path h="2787200" w="3109452">
                <a:moveTo>
                  <a:pt x="0" y="0"/>
                </a:moveTo>
                <a:lnTo>
                  <a:pt x="3109452" y="0"/>
                </a:lnTo>
                <a:lnTo>
                  <a:pt x="3109452" y="2787200"/>
                </a:lnTo>
                <a:lnTo>
                  <a:pt x="0" y="27872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009775" y="2663745"/>
            <a:ext cx="12682329" cy="174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Challenges in Treatment</a:t>
            </a:r>
          </a:p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FTT treatment requires coordinated medical, nutritional, and psychological interventions. Conflicts between disciplines emphasize the need for collaboration and comprehensive care planning.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09775" y="7719977"/>
            <a:ext cx="12682329" cy="1718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Support Systems &amp; Digital Gaps</a:t>
            </a:r>
          </a:p>
          <a:p>
            <a:pPr algn="just" marL="0" indent="0" lvl="0">
              <a:lnSpc>
                <a:spcPts val="3449"/>
              </a:lnSpc>
              <a:spcBef>
                <a:spcPct val="0"/>
              </a:spcBef>
            </a:pPr>
            <a:r>
              <a:rPr lang="en-US" sz="2463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Resources include home nursing visits, nutritional counseling, and support groups, but digital tools focus on diagnosis, lacking integrated solutions for holistic FTT management.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009775" y="4820457"/>
            <a:ext cx="12682329" cy="262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537" indent="-269769" lvl="1">
              <a:lnSpc>
                <a:spcPts val="3498"/>
              </a:lnSpc>
              <a:buFont typeface="Arial"/>
              <a:buChar char="•"/>
            </a:pPr>
            <a:r>
              <a:rPr lang="en-US" sz="2499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Key Treatment Approaches</a:t>
            </a:r>
          </a:p>
          <a:p>
            <a:pPr algn="just">
              <a:lnSpc>
                <a:spcPts val="3498"/>
              </a:lnSpc>
            </a:pPr>
            <a:r>
              <a:rPr lang="en-US" sz="24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Medical: Targeted medications for underlying conditions like infections or metabolic disorders.</a:t>
            </a:r>
          </a:p>
          <a:p>
            <a:pPr algn="just">
              <a:lnSpc>
                <a:spcPts val="3498"/>
              </a:lnSpc>
            </a:pPr>
            <a:r>
              <a:rPr lang="en-US" sz="24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Nutritional: Energy-dense diets, supplements, and, in severe cases, tube feeding.</a:t>
            </a:r>
          </a:p>
          <a:p>
            <a:pPr algn="just">
              <a:lnSpc>
                <a:spcPts val="3498"/>
              </a:lnSpc>
            </a:pPr>
            <a:r>
              <a:rPr lang="en-US" sz="24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Psychological: Counseling for families, behavioral therapies, and caregiver support.</a:t>
            </a:r>
          </a:p>
          <a:p>
            <a:pPr algn="just" marL="0" indent="0" lvl="0">
              <a:lnSpc>
                <a:spcPts val="3498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51607" y="531870"/>
            <a:ext cx="15584786" cy="980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9"/>
              </a:lnSpc>
            </a:pPr>
            <a:r>
              <a:rPr lang="en-US" b="true" sz="6699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OUR SOLUTION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-5400000">
            <a:off x="-835100" y="-864327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6157558" y="0"/>
                </a:moveTo>
                <a:lnTo>
                  <a:pt x="0" y="0"/>
                </a:lnTo>
                <a:lnTo>
                  <a:pt x="0" y="6157557"/>
                </a:lnTo>
                <a:lnTo>
                  <a:pt x="6157558" y="6157557"/>
                </a:lnTo>
                <a:lnTo>
                  <a:pt x="61575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2927794" y="6970349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7" y="6157558"/>
                </a:lnTo>
                <a:lnTo>
                  <a:pt x="6157557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414788" y="4626356"/>
            <a:ext cx="2530217" cy="2470125"/>
          </a:xfrm>
          <a:custGeom>
            <a:avLst/>
            <a:gdLst/>
            <a:ahLst/>
            <a:cxnLst/>
            <a:rect r="r" b="b" t="t" l="l"/>
            <a:pathLst>
              <a:path h="2470125" w="2530217">
                <a:moveTo>
                  <a:pt x="0" y="0"/>
                </a:moveTo>
                <a:lnTo>
                  <a:pt x="2530217" y="0"/>
                </a:lnTo>
                <a:lnTo>
                  <a:pt x="2530217" y="2470125"/>
                </a:lnTo>
                <a:lnTo>
                  <a:pt x="0" y="24701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62846" y="4878719"/>
            <a:ext cx="2057400" cy="2057400"/>
          </a:xfrm>
          <a:custGeom>
            <a:avLst/>
            <a:gdLst/>
            <a:ahLst/>
            <a:cxnLst/>
            <a:rect r="r" b="b" t="t" l="l"/>
            <a:pathLst>
              <a:path h="2057400" w="2057400">
                <a:moveTo>
                  <a:pt x="0" y="0"/>
                </a:moveTo>
                <a:lnTo>
                  <a:pt x="2057400" y="0"/>
                </a:lnTo>
                <a:lnTo>
                  <a:pt x="2057400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058966" y="5143500"/>
            <a:ext cx="2710680" cy="1527838"/>
          </a:xfrm>
          <a:custGeom>
            <a:avLst/>
            <a:gdLst/>
            <a:ahLst/>
            <a:cxnLst/>
            <a:rect r="r" b="b" t="t" l="l"/>
            <a:pathLst>
              <a:path h="1527838" w="2710680">
                <a:moveTo>
                  <a:pt x="0" y="0"/>
                </a:moveTo>
                <a:lnTo>
                  <a:pt x="2710680" y="0"/>
                </a:lnTo>
                <a:lnTo>
                  <a:pt x="2710680" y="1527838"/>
                </a:lnTo>
                <a:lnTo>
                  <a:pt x="0" y="15278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797499" y="8232294"/>
            <a:ext cx="2307492" cy="1376104"/>
          </a:xfrm>
          <a:custGeom>
            <a:avLst/>
            <a:gdLst/>
            <a:ahLst/>
            <a:cxnLst/>
            <a:rect r="r" b="b" t="t" l="l"/>
            <a:pathLst>
              <a:path h="1376104" w="2307492">
                <a:moveTo>
                  <a:pt x="0" y="0"/>
                </a:moveTo>
                <a:lnTo>
                  <a:pt x="2307492" y="0"/>
                </a:lnTo>
                <a:lnTo>
                  <a:pt x="2307492" y="1376104"/>
                </a:lnTo>
                <a:lnTo>
                  <a:pt x="0" y="137610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093093" y="5758596"/>
            <a:ext cx="1587060" cy="347169"/>
          </a:xfrm>
          <a:custGeom>
            <a:avLst/>
            <a:gdLst/>
            <a:ahLst/>
            <a:cxnLst/>
            <a:rect r="r" b="b" t="t" l="l"/>
            <a:pathLst>
              <a:path h="347169" w="1587060">
                <a:moveTo>
                  <a:pt x="0" y="0"/>
                </a:moveTo>
                <a:lnTo>
                  <a:pt x="1587060" y="0"/>
                </a:lnTo>
                <a:lnTo>
                  <a:pt x="1587060" y="347170"/>
                </a:lnTo>
                <a:lnTo>
                  <a:pt x="0" y="3471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7476010">
            <a:off x="6765994" y="7363109"/>
            <a:ext cx="1490754" cy="326102"/>
          </a:xfrm>
          <a:custGeom>
            <a:avLst/>
            <a:gdLst/>
            <a:ahLst/>
            <a:cxnLst/>
            <a:rect r="r" b="b" t="t" l="l"/>
            <a:pathLst>
              <a:path h="326102" w="1490754">
                <a:moveTo>
                  <a:pt x="0" y="0"/>
                </a:moveTo>
                <a:lnTo>
                  <a:pt x="1490754" y="0"/>
                </a:lnTo>
                <a:lnTo>
                  <a:pt x="1490754" y="326103"/>
                </a:lnTo>
                <a:lnTo>
                  <a:pt x="0" y="32610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680934">
            <a:off x="5704937" y="5712172"/>
            <a:ext cx="1587060" cy="347169"/>
          </a:xfrm>
          <a:custGeom>
            <a:avLst/>
            <a:gdLst/>
            <a:ahLst/>
            <a:cxnLst/>
            <a:rect r="r" b="b" t="t" l="l"/>
            <a:pathLst>
              <a:path h="347169" w="1587060">
                <a:moveTo>
                  <a:pt x="0" y="0"/>
                </a:moveTo>
                <a:lnTo>
                  <a:pt x="1587060" y="0"/>
                </a:lnTo>
                <a:lnTo>
                  <a:pt x="1587060" y="347170"/>
                </a:lnTo>
                <a:lnTo>
                  <a:pt x="0" y="3471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904439" y="8184669"/>
            <a:ext cx="2154527" cy="1255012"/>
          </a:xfrm>
          <a:custGeom>
            <a:avLst/>
            <a:gdLst/>
            <a:ahLst/>
            <a:cxnLst/>
            <a:rect r="r" b="b" t="t" l="l"/>
            <a:pathLst>
              <a:path h="1255012" w="2154527">
                <a:moveTo>
                  <a:pt x="0" y="0"/>
                </a:moveTo>
                <a:lnTo>
                  <a:pt x="2154527" y="0"/>
                </a:lnTo>
                <a:lnTo>
                  <a:pt x="2154527" y="1255012"/>
                </a:lnTo>
                <a:lnTo>
                  <a:pt x="0" y="12550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932590" y="2398135"/>
            <a:ext cx="14960583" cy="1653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78071" indent="-339035" lvl="1">
              <a:lnSpc>
                <a:spcPts val="4396"/>
              </a:lnSpc>
              <a:buFont typeface="Arial"/>
              <a:buChar char="•"/>
            </a:pPr>
            <a:r>
              <a:rPr lang="en-US" sz="3140">
                <a:solidFill>
                  <a:srgbClr val="034383"/>
                </a:solidFill>
                <a:latin typeface="Ubuntu"/>
                <a:ea typeface="Ubuntu"/>
                <a:cs typeface="Ubuntu"/>
                <a:sym typeface="Ubuntu"/>
              </a:rPr>
              <a:t>ThrivePath Platform</a:t>
            </a:r>
          </a:p>
          <a:p>
            <a:pPr algn="l" marL="1356141" indent="-452047" lvl="2">
              <a:lnSpc>
                <a:spcPts val="4396"/>
              </a:lnSpc>
              <a:buFont typeface="Arial"/>
              <a:buChar char="⚬"/>
            </a:pPr>
            <a:r>
              <a:rPr lang="en-US" sz="314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 A centralized website to address Failure to Thrive (FTT) in children by bridging diagnosis and customized intervention.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3073549">
            <a:off x="9173250" y="7475368"/>
            <a:ext cx="1587060" cy="347169"/>
          </a:xfrm>
          <a:custGeom>
            <a:avLst/>
            <a:gdLst/>
            <a:ahLst/>
            <a:cxnLst/>
            <a:rect r="r" b="b" t="t" l="l"/>
            <a:pathLst>
              <a:path h="347169" w="1587060">
                <a:moveTo>
                  <a:pt x="0" y="0"/>
                </a:moveTo>
                <a:lnTo>
                  <a:pt x="1587060" y="0"/>
                </a:lnTo>
                <a:lnTo>
                  <a:pt x="1587060" y="347170"/>
                </a:lnTo>
                <a:lnTo>
                  <a:pt x="0" y="3471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716345" y="6883493"/>
            <a:ext cx="3285054" cy="387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5"/>
              </a:lnSpc>
              <a:spcBef>
                <a:spcPct val="0"/>
              </a:spcBef>
            </a:pPr>
            <a:r>
              <a:rPr lang="en-US" b="true" sz="2354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Nutrition &amp; Hydration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501332" y="9661252"/>
            <a:ext cx="2649736" cy="387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5"/>
              </a:lnSpc>
              <a:spcBef>
                <a:spcPct val="0"/>
              </a:spcBef>
            </a:pPr>
            <a:r>
              <a:rPr lang="en-US" b="true" sz="2354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Tracking Progress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40741" y="9620656"/>
            <a:ext cx="2677478" cy="387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5"/>
              </a:lnSpc>
              <a:spcBef>
                <a:spcPct val="0"/>
              </a:spcBef>
            </a:pPr>
            <a:r>
              <a:rPr lang="en-US" b="true" sz="2354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Sleeping Schedule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23003" y="6888494"/>
            <a:ext cx="3376725" cy="1449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89"/>
              </a:lnSpc>
            </a:pPr>
            <a:r>
              <a:rPr lang="en-US" b="true" sz="234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Physical Activity</a:t>
            </a:r>
          </a:p>
          <a:p>
            <a:pPr algn="ctr" rtl="true">
              <a:lnSpc>
                <a:spcPts val="2809"/>
              </a:lnSpc>
            </a:pPr>
          </a:p>
          <a:p>
            <a:pPr algn="ctr" rtl="true">
              <a:lnSpc>
                <a:spcPts val="2809"/>
              </a:lnSpc>
            </a:pPr>
          </a:p>
          <a:p>
            <a:pPr algn="ctr" rtl="true">
              <a:lnSpc>
                <a:spcPts val="2809"/>
              </a:lnSpc>
              <a:spcBef>
                <a:spcPct val="0"/>
              </a:spcBef>
            </a:pPr>
          </a:p>
        </p:txBody>
      </p:sp>
      <p:sp>
        <p:nvSpPr>
          <p:cNvPr name="Freeform 19" id="19"/>
          <p:cNvSpPr/>
          <p:nvPr/>
        </p:nvSpPr>
        <p:spPr>
          <a:xfrm flipH="false" flipV="true" rot="10530646">
            <a:off x="14924982" y="-456912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8" y="6157558"/>
                </a:lnTo>
                <a:lnTo>
                  <a:pt x="6157558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8564"/>
            <a:ext cx="14813610" cy="90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96"/>
              </a:lnSpc>
            </a:pPr>
            <a:r>
              <a:rPr lang="en-US" sz="6178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ENGINEERING PROCESS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0">
            <a:off x="80010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10287000" y="0"/>
                </a:moveTo>
                <a:lnTo>
                  <a:pt x="0" y="0"/>
                </a:lnTo>
                <a:lnTo>
                  <a:pt x="0" y="10287000"/>
                </a:lnTo>
                <a:lnTo>
                  <a:pt x="10287000" y="1028700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4420938" y="5153025"/>
            <a:ext cx="2308947" cy="2650154"/>
          </a:xfrm>
          <a:custGeom>
            <a:avLst/>
            <a:gdLst/>
            <a:ahLst/>
            <a:cxnLst/>
            <a:rect r="r" b="b" t="t" l="l"/>
            <a:pathLst>
              <a:path h="2650154" w="2308947">
                <a:moveTo>
                  <a:pt x="0" y="0"/>
                </a:moveTo>
                <a:lnTo>
                  <a:pt x="2308947" y="0"/>
                </a:lnTo>
                <a:lnTo>
                  <a:pt x="2308947" y="2650154"/>
                </a:lnTo>
                <a:lnTo>
                  <a:pt x="0" y="265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2746543"/>
            <a:ext cx="13173163" cy="1725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12468" indent="-356234" lvl="1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Understanding FTT</a:t>
            </a:r>
          </a:p>
          <a:p>
            <a:pPr algn="just">
              <a:lnSpc>
                <a:spcPts val="4619"/>
              </a:lnSpc>
            </a:pPr>
            <a:r>
              <a:rPr lang="en-US" sz="32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Conducted in-depth research on FTT's causes, impacts, and existing care gaps, highlighting the need for early, integrated solutions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87218" y="4902129"/>
            <a:ext cx="14066645" cy="1725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12468" indent="-356234" lvl="1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Identifying Gaps</a:t>
            </a:r>
          </a:p>
          <a:p>
            <a:pPr algn="l">
              <a:lnSpc>
                <a:spcPts val="4619"/>
              </a:lnSpc>
            </a:pPr>
            <a:r>
              <a:rPr lang="en-US" sz="32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Reviewed current tools and found they lack personalized, comprehensive care, leading to the development of a unified platform.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7057716"/>
            <a:ext cx="13462941" cy="1725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12468" indent="-356234" lvl="1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Platform Focus</a:t>
            </a:r>
          </a:p>
          <a:p>
            <a:pPr algn="l">
              <a:lnSpc>
                <a:spcPts val="4619"/>
              </a:lnSpc>
            </a:pPr>
            <a:r>
              <a:rPr lang="en-US" sz="32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Designed a solution emphasizing simplicity, accessibility, and personalized recommendations to empower families and caregivers.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-10800000">
            <a:off x="15306675" y="65832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3727978" y="3029091"/>
            <a:ext cx="4243973" cy="2986696"/>
          </a:xfrm>
          <a:custGeom>
            <a:avLst/>
            <a:gdLst/>
            <a:ahLst/>
            <a:cxnLst/>
            <a:rect r="r" b="b" t="t" l="l"/>
            <a:pathLst>
              <a:path h="2986696" w="4243973">
                <a:moveTo>
                  <a:pt x="0" y="0"/>
                </a:moveTo>
                <a:lnTo>
                  <a:pt x="4243973" y="0"/>
                </a:lnTo>
                <a:lnTo>
                  <a:pt x="4243973" y="2986696"/>
                </a:lnTo>
                <a:lnTo>
                  <a:pt x="0" y="298669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380591" y="1107773"/>
            <a:ext cx="15584786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INTERVIEW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68051" y="5733880"/>
            <a:ext cx="6561880" cy="311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8791" indent="-229396" lvl="1">
              <a:lnSpc>
                <a:spcPts val="2337"/>
              </a:lnSpc>
              <a:buFont typeface="Arial"/>
              <a:buChar char="•"/>
            </a:pPr>
            <a:r>
              <a:rPr lang="en-US" b="true" sz="2125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AI INTEGRATION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17419" y="3362023"/>
            <a:ext cx="7002661" cy="797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sz="2354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What types of treatments were offered to you?</a:t>
            </a:r>
          </a:p>
          <a:p>
            <a:pPr algn="l" marL="1016578" indent="-338859" lvl="2">
              <a:lnSpc>
                <a:spcPts val="3295"/>
              </a:lnSpc>
              <a:buFont typeface="Arial"/>
              <a:buChar char="⚬"/>
            </a:pPr>
            <a:r>
              <a:rPr lang="en-US" sz="2354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A nutritionist and antacid medication.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17419" y="4730974"/>
            <a:ext cx="11403926" cy="797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sz="2354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Were there any dietary changes following the diagnosis? If so, what were they?</a:t>
            </a:r>
          </a:p>
          <a:p>
            <a:pPr algn="l" marL="1016578" indent="-338859" lvl="2">
              <a:lnSpc>
                <a:spcPts val="3295"/>
              </a:lnSpc>
              <a:buFont typeface="Arial"/>
              <a:buChar char="⚬"/>
            </a:pPr>
            <a:r>
              <a:rPr lang="en-US" sz="2354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I tried to create a high-calorie, high-protein meal plan for him.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7419" y="6031076"/>
            <a:ext cx="12554099" cy="797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sz="2354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Does the child engage in physical activity? If so, what types of sports is he willing to do?</a:t>
            </a:r>
          </a:p>
          <a:p>
            <a:pPr algn="l" marL="1016578" indent="-338859" lvl="2">
              <a:lnSpc>
                <a:spcPts val="3295"/>
              </a:lnSpc>
              <a:buFont typeface="Arial"/>
              <a:buChar char="⚬"/>
            </a:pPr>
            <a:r>
              <a:rPr lang="en-US" sz="2354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Fitness training. He does not want to do activities that are too difficult.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17419" y="7400027"/>
            <a:ext cx="14789705" cy="797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sz="2354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What functions or features would you expect to find in a digital system that assists with FTT treatment?</a:t>
            </a:r>
          </a:p>
          <a:p>
            <a:pPr algn="l" marL="1016578" indent="-338859" lvl="2">
              <a:lnSpc>
                <a:spcPts val="3295"/>
              </a:lnSpc>
              <a:buFont typeface="Arial"/>
              <a:buChar char="⚬"/>
            </a:pPr>
            <a:r>
              <a:rPr lang="en-US" sz="2354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Tracking percentile changes, recommendations to encourage appetite.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17419" y="8768979"/>
            <a:ext cx="15678150" cy="12070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sz="2354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If you could receive personalized recommendations from a digital system, what information would you want?</a:t>
            </a:r>
          </a:p>
          <a:p>
            <a:pPr algn="l" marL="1016578" indent="-338859" lvl="2">
              <a:lnSpc>
                <a:spcPts val="3295"/>
              </a:lnSpc>
              <a:buFont typeface="Arial"/>
              <a:buChar char="⚬"/>
            </a:pPr>
            <a:r>
              <a:rPr lang="en-US" sz="2354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The child's percentiles and nutritional recommendations.</a:t>
            </a:r>
          </a:p>
          <a:p>
            <a:pPr algn="l">
              <a:lnSpc>
                <a:spcPts val="3295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684445" y="2241164"/>
            <a:ext cx="12284781" cy="797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5"/>
              </a:lnSpc>
              <a:spcBef>
                <a:spcPct val="0"/>
              </a:spcBef>
            </a:pPr>
            <a:r>
              <a:rPr lang="en-US" b="true" sz="2354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An interview we conducted with Dr. Natalie Levy Soskin as part of understanding the needs of a parent of a child with FTT.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92127" y="1618283"/>
            <a:ext cx="15702433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OUR MODEL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0" id="10"/>
          <p:cNvSpPr txBox="true"/>
          <p:nvPr/>
        </p:nvSpPr>
        <p:spPr>
          <a:xfrm rot="0">
            <a:off x="1892127" y="3837011"/>
            <a:ext cx="14394181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We use an Object-Process Methodology (OPM) diagram to showcase our model.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09775" y="4570436"/>
            <a:ext cx="14756403" cy="214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Inside the diagram, we:</a:t>
            </a:r>
          </a:p>
          <a:p>
            <a:pPr algn="l" marL="1295400" indent="-431800" lvl="2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Analyze the child’s profile and diagnostic data.</a:t>
            </a:r>
          </a:p>
          <a:p>
            <a:pPr algn="l" marL="1295400" indent="-431800" lvl="2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Calculate nutritional needs and supplementation requirements.</a:t>
            </a:r>
          </a:p>
          <a:p>
            <a:pPr algn="l" marL="1295400" indent="-431800" lvl="2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D1D29"/>
                </a:solidFill>
                <a:latin typeface="Ubuntu"/>
                <a:ea typeface="Ubuntu"/>
                <a:cs typeface="Ubuntu"/>
                <a:sym typeface="Ubuntu"/>
              </a:rPr>
              <a:t>Generate a personalized treatment plan, including diet and lifestyle changes.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-10800000">
            <a:off x="14346556" y="65832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3" id="13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08678" y="3028848"/>
            <a:ext cx="7377985" cy="4799750"/>
          </a:xfrm>
          <a:custGeom>
            <a:avLst/>
            <a:gdLst/>
            <a:ahLst/>
            <a:cxnLst/>
            <a:rect r="r" b="b" t="t" l="l"/>
            <a:pathLst>
              <a:path h="4799750" w="7377985">
                <a:moveTo>
                  <a:pt x="0" y="0"/>
                </a:moveTo>
                <a:lnTo>
                  <a:pt x="7377985" y="0"/>
                </a:lnTo>
                <a:lnTo>
                  <a:pt x="7377985" y="4799750"/>
                </a:lnTo>
                <a:lnTo>
                  <a:pt x="0" y="47997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86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600764" y="976210"/>
            <a:ext cx="9470094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TREATMENT DEFINING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648563" y="2250343"/>
            <a:ext cx="7462922" cy="181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Input Sources</a:t>
            </a:r>
          </a:p>
          <a:p>
            <a:pPr algn="just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Child's profile: Includes age, gender, weight.</a:t>
            </a:r>
          </a:p>
          <a:p>
            <a:pPr algn="just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Diagnosis: Details the specific FTT condition.</a:t>
            </a:r>
          </a:p>
          <a:p>
            <a:pPr algn="just">
              <a:lnSpc>
                <a:spcPts val="3639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8648563" y="3908329"/>
            <a:ext cx="7824177" cy="273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Core Sub-Processes</a:t>
            </a:r>
          </a:p>
          <a:p>
            <a:pPr algn="l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Nutrition Changing: Adjusts the diet to meet nutritional needs.</a:t>
            </a:r>
          </a:p>
          <a:p>
            <a:pPr algn="l" marL="561339" indent="-280669" lvl="1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Changing Daily Habits: Focuses on</a:t>
            </a: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 lifestyle improvements.</a:t>
            </a:r>
          </a:p>
          <a:p>
            <a:pPr algn="l">
              <a:lnSpc>
                <a:spcPts val="3639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8648563" y="6383866"/>
            <a:ext cx="7824177" cy="261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Tailored Growth Support</a:t>
            </a:r>
          </a:p>
          <a:p>
            <a:pPr algn="just" marL="539749" indent="-269875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Combines all information from the previous steps into a comprehensive plan.</a:t>
            </a:r>
          </a:p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Provides actionable recommendations for nutrition and lifestyle to support the child's development.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09775" y="1438299"/>
            <a:ext cx="15702433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NUTRITION CHANGING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0" id="10"/>
          <p:cNvGrpSpPr/>
          <p:nvPr/>
        </p:nvGrpSpPr>
        <p:grpSpPr>
          <a:xfrm rot="0">
            <a:off x="17096423" y="4991100"/>
            <a:ext cx="111442" cy="108585"/>
            <a:chOff x="0" y="0"/>
            <a:chExt cx="148590" cy="1447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46990" y="45720"/>
              <a:ext cx="49530" cy="52070"/>
            </a:xfrm>
            <a:custGeom>
              <a:avLst/>
              <a:gdLst/>
              <a:ahLst/>
              <a:cxnLst/>
              <a:rect r="r" b="b" t="t" l="l"/>
              <a:pathLst>
                <a:path h="52070" w="49530">
                  <a:moveTo>
                    <a:pt x="49530" y="17780"/>
                  </a:moveTo>
                  <a:cubicBezTo>
                    <a:pt x="27940" y="52070"/>
                    <a:pt x="7620" y="45720"/>
                    <a:pt x="3810" y="38100"/>
                  </a:cubicBezTo>
                  <a:cubicBezTo>
                    <a:pt x="0" y="31750"/>
                    <a:pt x="3810" y="10160"/>
                    <a:pt x="10160" y="5080"/>
                  </a:cubicBezTo>
                  <a:cubicBezTo>
                    <a:pt x="16510" y="0"/>
                    <a:pt x="43180" y="7620"/>
                    <a:pt x="43180" y="7620"/>
                  </a:cubicBezTo>
                </a:path>
              </a:pathLst>
            </a:custGeom>
            <a:solidFill>
              <a:srgbClr val="99B9BE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703346" y="1973950"/>
            <a:ext cx="9286228" cy="8313050"/>
          </a:xfrm>
          <a:custGeom>
            <a:avLst/>
            <a:gdLst/>
            <a:ahLst/>
            <a:cxnLst/>
            <a:rect r="r" b="b" t="t" l="l"/>
            <a:pathLst>
              <a:path h="8313050" w="9286228">
                <a:moveTo>
                  <a:pt x="0" y="0"/>
                </a:moveTo>
                <a:lnTo>
                  <a:pt x="9286228" y="0"/>
                </a:lnTo>
                <a:lnTo>
                  <a:pt x="9286228" y="8313050"/>
                </a:lnTo>
                <a:lnTo>
                  <a:pt x="0" y="8313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 flipV="true">
            <a:off x="14159408" y="9351248"/>
            <a:ext cx="2802942" cy="0"/>
          </a:xfrm>
          <a:prstGeom prst="line">
            <a:avLst/>
          </a:prstGeom>
          <a:ln cap="rnd" w="19050">
            <a:solidFill>
              <a:srgbClr val="000000">
                <a:alpha val="2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682146" y="2985400"/>
            <a:ext cx="6992625" cy="115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Purpose</a:t>
            </a:r>
          </a:p>
          <a:p>
            <a:pPr algn="just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Tailors dietary recommendations based on the child's profile (gender, age, weight).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82146" y="8133980"/>
            <a:ext cx="6992625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Outcome</a:t>
            </a:r>
          </a:p>
          <a:p>
            <a:pPr algn="just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Integrates all calculations into a personalized treatment protocol for optimized growth and nutrition.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165" y="4351285"/>
            <a:ext cx="7104606" cy="3887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K</a:t>
            </a:r>
            <a:r>
              <a:rPr lang="en-US" sz="2199" strike="noStrike" u="none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ey Steps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Median Weight Defining: Determines target weight for healthy growth.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Caloric Value Calculation: Calculates daily caloric needs.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Calorie Distribution: Balances macronutrients (protein, carbohydrates, fats).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Supplement Supplying: Determines required vitamins and minerals.</a:t>
            </a:r>
          </a:p>
          <a:p>
            <a:pPr algn="just" marL="0" indent="0" lvl="0">
              <a:lnSpc>
                <a:spcPts val="3079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674771" y="2508670"/>
            <a:ext cx="9809849" cy="5542364"/>
          </a:xfrm>
          <a:custGeom>
            <a:avLst/>
            <a:gdLst/>
            <a:ahLst/>
            <a:cxnLst/>
            <a:rect r="r" b="b" t="t" l="l"/>
            <a:pathLst>
              <a:path h="5542364" w="9809849">
                <a:moveTo>
                  <a:pt x="0" y="0"/>
                </a:moveTo>
                <a:lnTo>
                  <a:pt x="9809849" y="0"/>
                </a:lnTo>
                <a:lnTo>
                  <a:pt x="9809849" y="5542364"/>
                </a:lnTo>
                <a:lnTo>
                  <a:pt x="0" y="55423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09775" y="1438299"/>
            <a:ext cx="15702433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NUTRITION CHANGING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64867" y="-699889"/>
            <a:ext cx="16931738" cy="1533898"/>
            <a:chOff x="0" y="0"/>
            <a:chExt cx="4459388" cy="4039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459388" cy="403990"/>
            </a:xfrm>
            <a:custGeom>
              <a:avLst/>
              <a:gdLst/>
              <a:ahLst/>
              <a:cxnLst/>
              <a:rect r="r" b="b" t="t" l="l"/>
              <a:pathLst>
                <a:path h="403990" w="4459388">
                  <a:moveTo>
                    <a:pt x="0" y="0"/>
                  </a:moveTo>
                  <a:lnTo>
                    <a:pt x="4459388" y="0"/>
                  </a:lnTo>
                  <a:lnTo>
                    <a:pt x="4459388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459388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5400000">
            <a:off x="-5015057" y="4582096"/>
            <a:ext cx="10698089" cy="1533898"/>
            <a:chOff x="0" y="0"/>
            <a:chExt cx="2817604" cy="4039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17604" cy="403990"/>
            </a:xfrm>
            <a:custGeom>
              <a:avLst/>
              <a:gdLst/>
              <a:ahLst/>
              <a:cxnLst/>
              <a:rect r="r" b="b" t="t" l="l"/>
              <a:pathLst>
                <a:path h="403990" w="2817604">
                  <a:moveTo>
                    <a:pt x="0" y="0"/>
                  </a:moveTo>
                  <a:lnTo>
                    <a:pt x="2817604" y="0"/>
                  </a:lnTo>
                  <a:lnTo>
                    <a:pt x="2817604" y="403990"/>
                  </a:lnTo>
                  <a:lnTo>
                    <a:pt x="0" y="403990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817604" cy="4420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-47625" y="-1634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1" id="11"/>
          <p:cNvGrpSpPr/>
          <p:nvPr/>
        </p:nvGrpSpPr>
        <p:grpSpPr>
          <a:xfrm rot="0">
            <a:off x="17096423" y="4991100"/>
            <a:ext cx="111442" cy="108585"/>
            <a:chOff x="0" y="0"/>
            <a:chExt cx="148590" cy="1447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46990" y="45720"/>
              <a:ext cx="49530" cy="52070"/>
            </a:xfrm>
            <a:custGeom>
              <a:avLst/>
              <a:gdLst/>
              <a:ahLst/>
              <a:cxnLst/>
              <a:rect r="r" b="b" t="t" l="l"/>
              <a:pathLst>
                <a:path h="52070" w="49530">
                  <a:moveTo>
                    <a:pt x="49530" y="17780"/>
                  </a:moveTo>
                  <a:cubicBezTo>
                    <a:pt x="27940" y="52070"/>
                    <a:pt x="7620" y="45720"/>
                    <a:pt x="3810" y="38100"/>
                  </a:cubicBezTo>
                  <a:cubicBezTo>
                    <a:pt x="0" y="31750"/>
                    <a:pt x="3810" y="10160"/>
                    <a:pt x="10160" y="5080"/>
                  </a:cubicBezTo>
                  <a:cubicBezTo>
                    <a:pt x="16510" y="0"/>
                    <a:pt x="43180" y="7620"/>
                    <a:pt x="43180" y="7620"/>
                  </a:cubicBezTo>
                </a:path>
              </a:pathLst>
            </a:custGeom>
            <a:solidFill>
              <a:srgbClr val="99B9BE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AutoShape 13" id="13"/>
          <p:cNvSpPr/>
          <p:nvPr/>
        </p:nvSpPr>
        <p:spPr>
          <a:xfrm flipV="true">
            <a:off x="14159408" y="9351248"/>
            <a:ext cx="2802942" cy="0"/>
          </a:xfrm>
          <a:prstGeom prst="line">
            <a:avLst/>
          </a:prstGeom>
          <a:ln cap="rnd" w="19050">
            <a:solidFill>
              <a:srgbClr val="000000">
                <a:alpha val="2078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682146" y="2985400"/>
            <a:ext cx="6992625" cy="115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Purpose</a:t>
            </a:r>
          </a:p>
          <a:p>
            <a:pPr algn="just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Tailors dietary recommendations based on the child's profile (gender, age, weight).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82146" y="8133980"/>
            <a:ext cx="6992625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Outcome</a:t>
            </a:r>
          </a:p>
          <a:p>
            <a:pPr algn="just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Integrates all calculations into a personalized treatment protocol for optimized growth and nutrition.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165" y="4351285"/>
            <a:ext cx="7104606" cy="3887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K</a:t>
            </a:r>
            <a:r>
              <a:rPr lang="en-US" sz="2199" strike="noStrike" u="none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ey Steps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Median Weight Defining: Determines target weight for healthy growth.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Caloric Value Calculation: Calculates daily caloric needs.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Calorie Distribution: Balances macronutrients (protein, carbohydrates, fats).</a:t>
            </a:r>
          </a:p>
          <a:p>
            <a:pPr algn="just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Supplement Supplying: Determines required vitamins and minerals.</a:t>
            </a:r>
          </a:p>
          <a:p>
            <a:pPr algn="just" marL="0" indent="0" lvl="0">
              <a:lnSpc>
                <a:spcPts val="3079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2049514" y="573087"/>
            <a:ext cx="15315831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CHANGING DAILY HABITS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5400000">
            <a:off x="12090482" y="-626645"/>
            <a:ext cx="6562966" cy="7473357"/>
          </a:xfrm>
          <a:custGeom>
            <a:avLst/>
            <a:gdLst/>
            <a:ahLst/>
            <a:cxnLst/>
            <a:rect r="r" b="b" t="t" l="l"/>
            <a:pathLst>
              <a:path h="7473357" w="6562966">
                <a:moveTo>
                  <a:pt x="0" y="0"/>
                </a:moveTo>
                <a:lnTo>
                  <a:pt x="6562967" y="0"/>
                </a:lnTo>
                <a:lnTo>
                  <a:pt x="6562967" y="7473357"/>
                </a:lnTo>
                <a:lnTo>
                  <a:pt x="0" y="74733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76200" y="2008531"/>
            <a:ext cx="11359062" cy="5835718"/>
          </a:xfrm>
          <a:custGeom>
            <a:avLst/>
            <a:gdLst/>
            <a:ahLst/>
            <a:cxnLst/>
            <a:rect r="r" b="b" t="t" l="l"/>
            <a:pathLst>
              <a:path h="5835718" w="11359062">
                <a:moveTo>
                  <a:pt x="0" y="0"/>
                </a:moveTo>
                <a:lnTo>
                  <a:pt x="11359062" y="0"/>
                </a:lnTo>
                <a:lnTo>
                  <a:pt x="11359062" y="5835718"/>
                </a:lnTo>
                <a:lnTo>
                  <a:pt x="0" y="58357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814643" y="2123878"/>
            <a:ext cx="6444657" cy="136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Purpose</a:t>
            </a:r>
          </a:p>
          <a:p>
            <a:pPr algn="l" marL="1122678" indent="-374226" lvl="2">
              <a:lnSpc>
                <a:spcPts val="3639"/>
              </a:lnSpc>
              <a:buFont typeface="Arial"/>
              <a:buChar char="⚬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Adjusts daily routines to improve overall health and development.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14643" y="3751580"/>
            <a:ext cx="6444657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Key Steps</a:t>
            </a:r>
          </a:p>
          <a:p>
            <a:pPr algn="l" marL="1122678" indent="-374226" lvl="2">
              <a:lnSpc>
                <a:spcPts val="3639"/>
              </a:lnSpc>
              <a:buFont typeface="Arial"/>
              <a:buChar char="⚬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Sleep Calculation: Ensures sufficient rest based on age.</a:t>
            </a:r>
          </a:p>
          <a:p>
            <a:pPr algn="l" marL="1122678" indent="-374226" lvl="2">
              <a:lnSpc>
                <a:spcPts val="3639"/>
              </a:lnSpc>
              <a:buFont typeface="Arial"/>
              <a:buChar char="⚬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Physical Activity Planning: Promotes regular and active movement.</a:t>
            </a:r>
          </a:p>
          <a:p>
            <a:pPr algn="l" marL="1122678" indent="-374226" lvl="2">
              <a:lnSpc>
                <a:spcPts val="3639"/>
              </a:lnSpc>
              <a:buFont typeface="Arial"/>
              <a:buChar char="⚬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Hydration Goals: Recommends proper daily water intake.</a:t>
            </a:r>
          </a:p>
          <a:p>
            <a:pPr algn="l">
              <a:lnSpc>
                <a:spcPts val="363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814643" y="7653749"/>
            <a:ext cx="6734435" cy="181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9" indent="-280669" lvl="1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034383"/>
                </a:solidFill>
                <a:latin typeface="Open Sans 1"/>
                <a:ea typeface="Open Sans 1"/>
                <a:cs typeface="Open Sans 1"/>
                <a:sym typeface="Open Sans 1"/>
              </a:rPr>
              <a:t>Outcome</a:t>
            </a:r>
          </a:p>
          <a:p>
            <a:pPr algn="l" marL="1122678" indent="-374226" lvl="2">
              <a:lnSpc>
                <a:spcPts val="3639"/>
              </a:lnSpc>
              <a:buFont typeface="Arial"/>
              <a:buChar char="⚬"/>
            </a:pPr>
            <a:r>
              <a:rPr lang="en-US" sz="25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Incorporates these habits into the treatment protocol for a holistic approach to the child's well-being.</a:t>
            </a:r>
          </a:p>
        </p:txBody>
      </p:sp>
      <p:sp>
        <p:nvSpPr>
          <p:cNvPr name="Freeform 8" id="8"/>
          <p:cNvSpPr/>
          <p:nvPr/>
        </p:nvSpPr>
        <p:spPr>
          <a:xfrm flipH="true" flipV="false" rot="-10800000">
            <a:off x="-938428" y="5289524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6157558" y="0"/>
                </a:moveTo>
                <a:lnTo>
                  <a:pt x="0" y="0"/>
                </a:lnTo>
                <a:lnTo>
                  <a:pt x="0" y="6157558"/>
                </a:lnTo>
                <a:lnTo>
                  <a:pt x="6157558" y="6157558"/>
                </a:lnTo>
                <a:lnTo>
                  <a:pt x="6157558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83107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0" y="0"/>
                </a:moveTo>
                <a:lnTo>
                  <a:pt x="9873830" y="0"/>
                </a:lnTo>
                <a:lnTo>
                  <a:pt x="9873830" y="11243492"/>
                </a:lnTo>
                <a:lnTo>
                  <a:pt x="0" y="112434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8414170" y="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9873830" y="11243492"/>
                </a:moveTo>
                <a:lnTo>
                  <a:pt x="0" y="11243492"/>
                </a:lnTo>
                <a:lnTo>
                  <a:pt x="0" y="0"/>
                </a:lnTo>
                <a:lnTo>
                  <a:pt x="9873830" y="0"/>
                </a:lnTo>
                <a:lnTo>
                  <a:pt x="9873830" y="1124349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182694" y="4305179"/>
            <a:ext cx="11922611" cy="175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1"/>
              </a:lnSpc>
            </a:pPr>
            <a:r>
              <a:rPr lang="en-US" b="true" sz="12028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UML DIAGRAMS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60505" y="506412"/>
            <a:ext cx="13766990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USE CASE DIAGRAM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36168" y="3154218"/>
            <a:ext cx="6096000" cy="739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b="true" sz="5000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VALUES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69887" y="-1193305"/>
            <a:ext cx="4364942" cy="2386610"/>
            <a:chOff x="0" y="0"/>
            <a:chExt cx="1149614" cy="62857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true" rot="5400000">
            <a:off x="-1247163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4962244"/>
                </a:moveTo>
                <a:lnTo>
                  <a:pt x="4962244" y="4962244"/>
                </a:lnTo>
                <a:lnTo>
                  <a:pt x="4962244" y="0"/>
                </a:lnTo>
                <a:lnTo>
                  <a:pt x="0" y="0"/>
                </a:lnTo>
                <a:lnTo>
                  <a:pt x="0" y="496224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" id="8"/>
          <p:cNvGrpSpPr/>
          <p:nvPr/>
        </p:nvGrpSpPr>
        <p:grpSpPr>
          <a:xfrm rot="0">
            <a:off x="12739092" y="-1291235"/>
            <a:ext cx="4364942" cy="2386610"/>
            <a:chOff x="0" y="0"/>
            <a:chExt cx="1149614" cy="6285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5400000">
            <a:off x="14572919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0"/>
                </a:moveTo>
                <a:lnTo>
                  <a:pt x="4962244" y="0"/>
                </a:lnTo>
                <a:lnTo>
                  <a:pt x="4962244" y="4962244"/>
                </a:lnTo>
                <a:lnTo>
                  <a:pt x="0" y="49622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2996559" y="1679455"/>
            <a:ext cx="11887609" cy="8291607"/>
          </a:xfrm>
          <a:custGeom>
            <a:avLst/>
            <a:gdLst/>
            <a:ahLst/>
            <a:cxnLst/>
            <a:rect r="r" b="b" t="t" l="l"/>
            <a:pathLst>
              <a:path h="8291607" w="11887609">
                <a:moveTo>
                  <a:pt x="0" y="0"/>
                </a:moveTo>
                <a:lnTo>
                  <a:pt x="11887609" y="0"/>
                </a:lnTo>
                <a:lnTo>
                  <a:pt x="11887609" y="8291607"/>
                </a:lnTo>
                <a:lnTo>
                  <a:pt x="0" y="8291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2900" y="2845057"/>
            <a:ext cx="5514829" cy="2126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42"/>
              </a:lnSpc>
            </a:pPr>
            <a:r>
              <a:rPr lang="en-US" sz="7402" b="true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ACIVITY DIAGRAM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36168" y="3154218"/>
            <a:ext cx="6096000" cy="739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b="true" sz="5000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VALUES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69887" y="-1193305"/>
            <a:ext cx="4364942" cy="2386610"/>
            <a:chOff x="0" y="0"/>
            <a:chExt cx="1149614" cy="62857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true" rot="5400000">
            <a:off x="-1247163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4962244"/>
                </a:moveTo>
                <a:lnTo>
                  <a:pt x="4962244" y="4962244"/>
                </a:lnTo>
                <a:lnTo>
                  <a:pt x="4962244" y="0"/>
                </a:lnTo>
                <a:lnTo>
                  <a:pt x="0" y="0"/>
                </a:lnTo>
                <a:lnTo>
                  <a:pt x="0" y="496224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" id="8"/>
          <p:cNvGrpSpPr/>
          <p:nvPr/>
        </p:nvGrpSpPr>
        <p:grpSpPr>
          <a:xfrm rot="0">
            <a:off x="12739092" y="-1291235"/>
            <a:ext cx="4364942" cy="2386610"/>
            <a:chOff x="0" y="0"/>
            <a:chExt cx="1149614" cy="6285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5400000">
            <a:off x="14572919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0"/>
                </a:moveTo>
                <a:lnTo>
                  <a:pt x="4962244" y="0"/>
                </a:lnTo>
                <a:lnTo>
                  <a:pt x="4962244" y="4962244"/>
                </a:lnTo>
                <a:lnTo>
                  <a:pt x="0" y="49622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4777990" y="0"/>
            <a:ext cx="9184234" cy="10287000"/>
          </a:xfrm>
          <a:custGeom>
            <a:avLst/>
            <a:gdLst/>
            <a:ahLst/>
            <a:cxnLst/>
            <a:rect r="r" b="b" t="t" l="l"/>
            <a:pathLst>
              <a:path h="10287000" w="9184234">
                <a:moveTo>
                  <a:pt x="0" y="0"/>
                </a:moveTo>
                <a:lnTo>
                  <a:pt x="9184233" y="0"/>
                </a:lnTo>
                <a:lnTo>
                  <a:pt x="918423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10800000">
            <a:off x="15124273" y="696377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4" id="14"/>
          <p:cNvSpPr/>
          <p:nvPr/>
        </p:nvSpPr>
        <p:spPr>
          <a:xfrm flipH="false" flipV="false" rot="-5400000">
            <a:off x="-698885" y="696377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5" id="15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15616" y="573087"/>
            <a:ext cx="13766990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ARCHITECTURE DIAGRAM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36168" y="3154218"/>
            <a:ext cx="6096000" cy="739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b="true" sz="5000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VALUES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69887" y="-1193305"/>
            <a:ext cx="4364942" cy="2386610"/>
            <a:chOff x="0" y="0"/>
            <a:chExt cx="1149614" cy="62857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true" rot="5400000">
            <a:off x="-1247163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4962244"/>
                </a:moveTo>
                <a:lnTo>
                  <a:pt x="4962244" y="4962244"/>
                </a:lnTo>
                <a:lnTo>
                  <a:pt x="4962244" y="0"/>
                </a:lnTo>
                <a:lnTo>
                  <a:pt x="0" y="0"/>
                </a:lnTo>
                <a:lnTo>
                  <a:pt x="0" y="496224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" id="8"/>
          <p:cNvGrpSpPr/>
          <p:nvPr/>
        </p:nvGrpSpPr>
        <p:grpSpPr>
          <a:xfrm rot="0">
            <a:off x="12739092" y="-1291235"/>
            <a:ext cx="4364942" cy="2386610"/>
            <a:chOff x="0" y="0"/>
            <a:chExt cx="1149614" cy="6285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614" cy="628572"/>
            </a:xfrm>
            <a:custGeom>
              <a:avLst/>
              <a:gdLst/>
              <a:ahLst/>
              <a:cxnLst/>
              <a:rect r="r" b="b" t="t" l="l"/>
              <a:pathLst>
                <a:path h="628572" w="1149614">
                  <a:moveTo>
                    <a:pt x="574807" y="628572"/>
                  </a:moveTo>
                  <a:lnTo>
                    <a:pt x="1149614" y="0"/>
                  </a:lnTo>
                  <a:lnTo>
                    <a:pt x="0" y="0"/>
                  </a:lnTo>
                  <a:lnTo>
                    <a:pt x="574807" y="628572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79627" y="6798"/>
              <a:ext cx="790360" cy="329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5400000">
            <a:off x="14572919" y="-160646"/>
            <a:ext cx="4962244" cy="4962244"/>
          </a:xfrm>
          <a:custGeom>
            <a:avLst/>
            <a:gdLst/>
            <a:ahLst/>
            <a:cxnLst/>
            <a:rect r="r" b="b" t="t" l="l"/>
            <a:pathLst>
              <a:path h="4962244" w="4962244">
                <a:moveTo>
                  <a:pt x="0" y="0"/>
                </a:moveTo>
                <a:lnTo>
                  <a:pt x="4962244" y="0"/>
                </a:lnTo>
                <a:lnTo>
                  <a:pt x="4962244" y="4962244"/>
                </a:lnTo>
                <a:lnTo>
                  <a:pt x="0" y="49622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3715081" y="2915468"/>
            <a:ext cx="11301259" cy="6342832"/>
          </a:xfrm>
          <a:custGeom>
            <a:avLst/>
            <a:gdLst/>
            <a:ahLst/>
            <a:cxnLst/>
            <a:rect r="r" b="b" t="t" l="l"/>
            <a:pathLst>
              <a:path h="6342832" w="11301259">
                <a:moveTo>
                  <a:pt x="0" y="0"/>
                </a:moveTo>
                <a:lnTo>
                  <a:pt x="11301259" y="0"/>
                </a:lnTo>
                <a:lnTo>
                  <a:pt x="11301259" y="6342832"/>
                </a:lnTo>
                <a:lnTo>
                  <a:pt x="0" y="63428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984614" y="1639136"/>
            <a:ext cx="6318772" cy="530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72"/>
              </a:lnSpc>
              <a:spcBef>
                <a:spcPct val="0"/>
              </a:spcBef>
            </a:pPr>
            <a:r>
              <a:rPr lang="en-US" sz="3123">
                <a:solidFill>
                  <a:srgbClr val="034383"/>
                </a:solidFill>
                <a:latin typeface="Fredoka"/>
                <a:ea typeface="Fredoka"/>
                <a:cs typeface="Fredoka"/>
                <a:sym typeface="Fredoka"/>
              </a:rPr>
              <a:t>System Architecture Overview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74514" y="1568116"/>
            <a:ext cx="15584786" cy="185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FUNCTIONAL REQUIREMENTS</a:t>
            </a:r>
          </a:p>
          <a:p>
            <a:pPr algn="ctr">
              <a:lnSpc>
                <a:spcPts val="7150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true" flipV="false" rot="-5400000">
            <a:off x="-835100" y="-864327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6157558" y="0"/>
                </a:moveTo>
                <a:lnTo>
                  <a:pt x="0" y="0"/>
                </a:lnTo>
                <a:lnTo>
                  <a:pt x="0" y="6157557"/>
                </a:lnTo>
                <a:lnTo>
                  <a:pt x="6157558" y="6157557"/>
                </a:lnTo>
                <a:lnTo>
                  <a:pt x="61575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-10800000">
            <a:off x="2054874" y="4407966"/>
            <a:ext cx="14178251" cy="2863590"/>
            <a:chOff x="0" y="0"/>
            <a:chExt cx="6100745" cy="12321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100745" cy="1232171"/>
            </a:xfrm>
            <a:custGeom>
              <a:avLst/>
              <a:gdLst/>
              <a:ahLst/>
              <a:cxnLst/>
              <a:rect r="r" b="b" t="t" l="l"/>
              <a:pathLst>
                <a:path h="1232171" w="6100745">
                  <a:moveTo>
                    <a:pt x="0" y="0"/>
                  </a:moveTo>
                  <a:lnTo>
                    <a:pt x="6100745" y="0"/>
                  </a:lnTo>
                  <a:lnTo>
                    <a:pt x="6100745" y="1232171"/>
                  </a:lnTo>
                  <a:lnTo>
                    <a:pt x="0" y="1232171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6100745" cy="1270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true" rot="-5400000">
            <a:off x="12814394" y="6970349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8" y="6157558"/>
                </a:lnTo>
                <a:lnTo>
                  <a:pt x="6157558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2489636" y="4013718"/>
            <a:ext cx="13308727" cy="3652085"/>
            <a:chOff x="0" y="0"/>
            <a:chExt cx="5726599" cy="157145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726599" cy="1571452"/>
            </a:xfrm>
            <a:custGeom>
              <a:avLst/>
              <a:gdLst/>
              <a:ahLst/>
              <a:cxnLst/>
              <a:rect r="r" b="b" t="t" l="l"/>
              <a:pathLst>
                <a:path h="1571452" w="5726599">
                  <a:moveTo>
                    <a:pt x="0" y="0"/>
                  </a:moveTo>
                  <a:lnTo>
                    <a:pt x="5726599" y="0"/>
                  </a:lnTo>
                  <a:lnTo>
                    <a:pt x="5726599" y="1571452"/>
                  </a:lnTo>
                  <a:lnTo>
                    <a:pt x="0" y="1571452"/>
                  </a:lnTo>
                  <a:close/>
                </a:path>
              </a:pathLst>
            </a:custGeom>
            <a:solidFill>
              <a:srgbClr val="EFEF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5726599" cy="16381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The system will allow users to log in. 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The system will allow users to view a list of children they have added. 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The system will allow users to add a new child.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 The system will allow users to upload diagnostic files for a child.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 The system will generate personalized treatment plans for each child.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 The system will display growth charts for weight and height.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00000"/>
                  </a:solidFill>
                  <a:latin typeface="Ubuntu"/>
                  <a:ea typeface="Ubuntu"/>
                  <a:cs typeface="Ubuntu"/>
                  <a:sym typeface="Ubuntu"/>
                </a:rPr>
                <a:t> The system will allow users to update physical measurements for their children.</a:t>
              </a:r>
            </a:p>
            <a:p>
              <a:pPr algn="just">
                <a:lnSpc>
                  <a:spcPts val="357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02400" y="1592264"/>
            <a:ext cx="15584786" cy="185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NON-FUNCTIONAL REQUIREMENTS</a:t>
            </a:r>
          </a:p>
          <a:p>
            <a:pPr algn="ctr">
              <a:lnSpc>
                <a:spcPts val="7150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true" flipV="false" rot="-5400000">
            <a:off x="-835100" y="-864327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6157558" y="0"/>
                </a:moveTo>
                <a:lnTo>
                  <a:pt x="0" y="0"/>
                </a:lnTo>
                <a:lnTo>
                  <a:pt x="0" y="6157557"/>
                </a:lnTo>
                <a:lnTo>
                  <a:pt x="6157558" y="6157557"/>
                </a:lnTo>
                <a:lnTo>
                  <a:pt x="61575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-10800000">
            <a:off x="1733363" y="3941023"/>
            <a:ext cx="15525937" cy="3515590"/>
            <a:chOff x="0" y="0"/>
            <a:chExt cx="6680640" cy="15127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680640" cy="1512720"/>
            </a:xfrm>
            <a:custGeom>
              <a:avLst/>
              <a:gdLst/>
              <a:ahLst/>
              <a:cxnLst/>
              <a:rect r="r" b="b" t="t" l="l"/>
              <a:pathLst>
                <a:path h="1512720" w="6680640">
                  <a:moveTo>
                    <a:pt x="0" y="0"/>
                  </a:moveTo>
                  <a:lnTo>
                    <a:pt x="6680640" y="0"/>
                  </a:lnTo>
                  <a:lnTo>
                    <a:pt x="6680640" y="1512720"/>
                  </a:lnTo>
                  <a:lnTo>
                    <a:pt x="0" y="1512720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6680640" cy="15508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true" rot="-5400000">
            <a:off x="12814394" y="6970349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8" y="6157558"/>
                </a:lnTo>
                <a:lnTo>
                  <a:pt x="6157558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2078398" y="3370264"/>
            <a:ext cx="14871229" cy="4995110"/>
            <a:chOff x="0" y="0"/>
            <a:chExt cx="6398926" cy="21493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98926" cy="2149341"/>
            </a:xfrm>
            <a:custGeom>
              <a:avLst/>
              <a:gdLst/>
              <a:ahLst/>
              <a:cxnLst/>
              <a:rect r="r" b="b" t="t" l="l"/>
              <a:pathLst>
                <a:path h="2149341" w="6398926">
                  <a:moveTo>
                    <a:pt x="0" y="0"/>
                  </a:moveTo>
                  <a:lnTo>
                    <a:pt x="6398926" y="0"/>
                  </a:lnTo>
                  <a:lnTo>
                    <a:pt x="6398926" y="2149341"/>
                  </a:lnTo>
                  <a:lnTo>
                    <a:pt x="0" y="2149341"/>
                  </a:lnTo>
                  <a:close/>
                </a:path>
              </a:pathLst>
            </a:custGeom>
            <a:solidFill>
              <a:srgbClr val="EFEF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6398926" cy="22160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system interface shall be intuitive and user-friendly, allowing easy navigation for all users.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platform shall be responsive and adapt to various screen sizes, ensuring usability on desktop, tablet, and mobile devices.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system shall load pages within 2 seconds under normal network conditions.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File uploads (up to 10MB) shall be processed within 5 seconds.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Recommendation generation shall be completed within 3 seconds.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system shall automatically log out inactive users after 15 minutes for security purposes.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system shall ensure that all stored data remains accurate, complete, and reliable across all operations.</a:t>
              </a:r>
            </a:p>
            <a:p>
              <a:pPr algn="just" marL="551468" indent="-275734" lvl="1">
                <a:lnSpc>
                  <a:spcPts val="3575"/>
                </a:lnSpc>
                <a:buAutoNum type="arabicPeriod" startAt="1"/>
              </a:pPr>
              <a:r>
                <a:rPr lang="en-US" sz="2554">
                  <a:solidFill>
                    <a:srgbClr val="0D1D29"/>
                  </a:solidFill>
                  <a:latin typeface="Ubuntu"/>
                  <a:ea typeface="Ubuntu"/>
                  <a:cs typeface="Ubuntu"/>
                  <a:sym typeface="Ubuntu"/>
                </a:rPr>
                <a:t>The platform shall support Windows, macOS, iOS, and Android, ensuring consistent functionality across different operating systems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83107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0" y="0"/>
                </a:moveTo>
                <a:lnTo>
                  <a:pt x="9873830" y="0"/>
                </a:lnTo>
                <a:lnTo>
                  <a:pt x="9873830" y="11243492"/>
                </a:lnTo>
                <a:lnTo>
                  <a:pt x="0" y="112434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8414170" y="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9873830" y="11243492"/>
                </a:moveTo>
                <a:lnTo>
                  <a:pt x="0" y="11243492"/>
                </a:lnTo>
                <a:lnTo>
                  <a:pt x="0" y="0"/>
                </a:lnTo>
                <a:lnTo>
                  <a:pt x="9873830" y="0"/>
                </a:lnTo>
                <a:lnTo>
                  <a:pt x="9873830" y="1124349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182694" y="4305179"/>
            <a:ext cx="11922611" cy="175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1"/>
              </a:lnSpc>
            </a:pPr>
            <a:r>
              <a:rPr lang="en-US" b="true" sz="12028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PROTOTYPE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209665" y="3391431"/>
            <a:ext cx="7934335" cy="4142415"/>
          </a:xfrm>
          <a:custGeom>
            <a:avLst/>
            <a:gdLst/>
            <a:ahLst/>
            <a:cxnLst/>
            <a:rect r="r" b="b" t="t" l="l"/>
            <a:pathLst>
              <a:path h="4142415" w="7934335">
                <a:moveTo>
                  <a:pt x="0" y="0"/>
                </a:moveTo>
                <a:lnTo>
                  <a:pt x="7934335" y="0"/>
                </a:lnTo>
                <a:lnTo>
                  <a:pt x="7934335" y="4142414"/>
                </a:lnTo>
                <a:lnTo>
                  <a:pt x="0" y="4142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10374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388613" y="3464668"/>
            <a:ext cx="7623751" cy="4069177"/>
          </a:xfrm>
          <a:custGeom>
            <a:avLst/>
            <a:gdLst/>
            <a:ahLst/>
            <a:cxnLst/>
            <a:rect r="r" b="b" t="t" l="l"/>
            <a:pathLst>
              <a:path h="4069177" w="7623751">
                <a:moveTo>
                  <a:pt x="0" y="0"/>
                </a:moveTo>
                <a:lnTo>
                  <a:pt x="7623751" y="0"/>
                </a:lnTo>
                <a:lnTo>
                  <a:pt x="7623751" y="4069177"/>
                </a:lnTo>
                <a:lnTo>
                  <a:pt x="0" y="4069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943469" y="1575329"/>
            <a:ext cx="15315831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LOGIN &amp; CHILD SELECTION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028700" y="3272780"/>
            <a:ext cx="7779361" cy="4225301"/>
          </a:xfrm>
          <a:custGeom>
            <a:avLst/>
            <a:gdLst/>
            <a:ahLst/>
            <a:cxnLst/>
            <a:rect r="r" b="b" t="t" l="l"/>
            <a:pathLst>
              <a:path h="4225301" w="7779361">
                <a:moveTo>
                  <a:pt x="0" y="0"/>
                </a:moveTo>
                <a:lnTo>
                  <a:pt x="7779361" y="0"/>
                </a:lnTo>
                <a:lnTo>
                  <a:pt x="7779361" y="4225301"/>
                </a:lnTo>
                <a:lnTo>
                  <a:pt x="0" y="4225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759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144000" y="3097107"/>
            <a:ext cx="7880299" cy="4301519"/>
          </a:xfrm>
          <a:custGeom>
            <a:avLst/>
            <a:gdLst/>
            <a:ahLst/>
            <a:cxnLst/>
            <a:rect r="r" b="b" t="t" l="l"/>
            <a:pathLst>
              <a:path h="4301519" w="7880299">
                <a:moveTo>
                  <a:pt x="0" y="0"/>
                </a:moveTo>
                <a:lnTo>
                  <a:pt x="7880299" y="0"/>
                </a:lnTo>
                <a:lnTo>
                  <a:pt x="7880299" y="4301518"/>
                </a:lnTo>
                <a:lnTo>
                  <a:pt x="0" y="43015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-2268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943469" y="1575329"/>
            <a:ext cx="15315831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ADD NEW CHILD 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91155" y="3249278"/>
            <a:ext cx="6778831" cy="5415960"/>
          </a:xfrm>
          <a:custGeom>
            <a:avLst/>
            <a:gdLst/>
            <a:ahLst/>
            <a:cxnLst/>
            <a:rect r="r" b="b" t="t" l="l"/>
            <a:pathLst>
              <a:path h="5415960" w="6778831">
                <a:moveTo>
                  <a:pt x="0" y="0"/>
                </a:moveTo>
                <a:lnTo>
                  <a:pt x="6778830" y="0"/>
                </a:lnTo>
                <a:lnTo>
                  <a:pt x="6778830" y="5415960"/>
                </a:lnTo>
                <a:lnTo>
                  <a:pt x="0" y="54159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777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810303" y="1639791"/>
            <a:ext cx="15315831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TREATMENT PLAN &amp; TRACKING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8374955" y="3141566"/>
            <a:ext cx="8627354" cy="4630294"/>
          </a:xfrm>
          <a:custGeom>
            <a:avLst/>
            <a:gdLst/>
            <a:ahLst/>
            <a:cxnLst/>
            <a:rect r="r" b="b" t="t" l="l"/>
            <a:pathLst>
              <a:path h="4630294" w="8627354">
                <a:moveTo>
                  <a:pt x="0" y="0"/>
                </a:moveTo>
                <a:lnTo>
                  <a:pt x="8627354" y="0"/>
                </a:lnTo>
                <a:lnTo>
                  <a:pt x="8627354" y="4630294"/>
                </a:lnTo>
                <a:lnTo>
                  <a:pt x="0" y="46302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76" t="0" r="-276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58516" y="38100"/>
            <a:ext cx="15584786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VERIFICATION PLAN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-5400000">
            <a:off x="-882725" y="-1052158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6157558" y="0"/>
                </a:moveTo>
                <a:lnTo>
                  <a:pt x="0" y="0"/>
                </a:lnTo>
                <a:lnTo>
                  <a:pt x="0" y="6157558"/>
                </a:lnTo>
                <a:lnTo>
                  <a:pt x="6157558" y="6157558"/>
                </a:lnTo>
                <a:lnTo>
                  <a:pt x="61575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2871544" y="7056074"/>
            <a:ext cx="6157558" cy="6157558"/>
          </a:xfrm>
          <a:custGeom>
            <a:avLst/>
            <a:gdLst/>
            <a:ahLst/>
            <a:cxnLst/>
            <a:rect r="r" b="b" t="t" l="l"/>
            <a:pathLst>
              <a:path h="6157558" w="6157558">
                <a:moveTo>
                  <a:pt x="0" y="6157558"/>
                </a:moveTo>
                <a:lnTo>
                  <a:pt x="6157558" y="6157558"/>
                </a:lnTo>
                <a:lnTo>
                  <a:pt x="6157558" y="0"/>
                </a:lnTo>
                <a:lnTo>
                  <a:pt x="0" y="0"/>
                </a:lnTo>
                <a:lnTo>
                  <a:pt x="0" y="615755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2465933" y="1279079"/>
          <a:ext cx="14312792" cy="8661193"/>
        </p:xfrm>
        <a:graphic>
          <a:graphicData uri="http://schemas.openxmlformats.org/drawingml/2006/table">
            <a:tbl>
              <a:tblPr/>
              <a:tblGrid>
                <a:gridCol w="1292342"/>
                <a:gridCol w="2605182"/>
                <a:gridCol w="10415268"/>
              </a:tblGrid>
              <a:tr h="110978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ns 1 Bold"/>
                          <a:ea typeface="Open Sans 1 Bold"/>
                          <a:cs typeface="Open Sans 1 Bold"/>
                          <a:sym typeface="Open Sans 1 Bold"/>
                        </a:rPr>
                        <a:t>Case</a:t>
                      </a:r>
                      <a:endParaRPr lang="en-US" sz="1100"/>
                    </a:p>
                    <a:p>
                      <a:pPr algn="l">
                        <a:lnSpc>
                          <a:spcPts val="252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rtl="true">
                        <a:lnSpc>
                          <a:spcPts val="900"/>
                        </a:lnSpc>
                        <a:defRPr/>
                      </a:pPr>
                      <a:r>
                        <a:rPr lang="en-US" b="true" sz="1800">
                          <a:solidFill>
                            <a:srgbClr val="000000"/>
                          </a:solidFill>
                          <a:latin typeface="Open Sans 1 Bold"/>
                          <a:ea typeface="Open Sans 1 Bold"/>
                          <a:cs typeface="Open Sans 1 Bold"/>
                          <a:sym typeface="Open Sans 1 Bold"/>
                        </a:rPr>
                        <a:t>Test Case</a:t>
                      </a:r>
                      <a:endParaRPr lang="en-US" sz="1100"/>
                    </a:p>
                  </a:txBody>
                  <a:tcPr marL="190500" marR="190500" marT="190500" marB="190500" anchor="t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rtl="true">
                        <a:lnSpc>
                          <a:spcPts val="2520"/>
                        </a:lnSpc>
                        <a:defRPr/>
                      </a:pPr>
                      <a:r>
                        <a:rPr lang="en-US" b="true" sz="1800">
                          <a:solidFill>
                            <a:srgbClr val="000000"/>
                          </a:solidFill>
                          <a:latin typeface="Open Sans 1 Bold"/>
                          <a:ea typeface="Open Sans 1 Bold"/>
                          <a:cs typeface="Open Sans 1 Bold"/>
                          <a:sym typeface="Open Sans 1 Bold"/>
                        </a:rPr>
                        <a:t>Expected Result</a:t>
                      </a:r>
                      <a:endParaRPr lang="en-US" sz="1100"/>
                    </a:p>
                    <a:p>
                      <a:pPr algn="l" rtl="true">
                        <a:lnSpc>
                          <a:spcPts val="252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80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Login with invalid credentials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 An error message should appear, informing the user of incorrect username or password.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8289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Register with missing or invalid inputs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An error message should appear, specifying the required fields or validation errors.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80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Add a new child with valid details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The child should be added to the system, and the user should proceed to the next step</a:t>
                      </a:r>
                      <a:endParaRPr lang="en-US" sz="1100"/>
                    </a:p>
                    <a:p>
                      <a:pPr algn="just">
                        <a:lnSpc>
                          <a:spcPts val="2659"/>
                        </a:lnSpc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 to upload a diagnostic file.  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80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Upload a valid diagnostic file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The file should be uploaded successfully, and the user should be redirected to the child selection page or the next relevant screen.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80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View the treatment plan for a child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The treatment plan should display the personalized recommendations, including meal plan, physical activity, sleep schedule, and hydration.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763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 1"/>
                          <a:ea typeface="Open Sans 1"/>
                          <a:cs typeface="Open Sans 1"/>
                          <a:sym typeface="Open Sans 1"/>
                        </a:rPr>
                        <a:t>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Update physical measurements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The system should allow the user to input updated measurements, and the graphs should refresh to reflect the new data.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6" id="6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0694" y="-166154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0800000">
            <a:off x="7897177" y="-178363"/>
            <a:ext cx="10631517" cy="10631517"/>
          </a:xfrm>
          <a:custGeom>
            <a:avLst/>
            <a:gdLst/>
            <a:ahLst/>
            <a:cxnLst/>
            <a:rect r="r" b="b" t="t" l="l"/>
            <a:pathLst>
              <a:path h="10631517" w="10631517">
                <a:moveTo>
                  <a:pt x="0" y="0"/>
                </a:moveTo>
                <a:lnTo>
                  <a:pt x="10631517" y="0"/>
                </a:lnTo>
                <a:lnTo>
                  <a:pt x="10631517" y="10631517"/>
                </a:lnTo>
                <a:lnTo>
                  <a:pt x="0" y="106315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-10800000">
            <a:off x="6938080" y="8246207"/>
            <a:ext cx="6064231" cy="1370341"/>
            <a:chOff x="0" y="0"/>
            <a:chExt cx="1597164" cy="360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-10800000">
            <a:off x="-1456230" y="9616548"/>
            <a:ext cx="9626215" cy="1370341"/>
            <a:chOff x="0" y="0"/>
            <a:chExt cx="2535300" cy="3609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285690" y="670452"/>
            <a:ext cx="6064231" cy="1370341"/>
            <a:chOff x="0" y="0"/>
            <a:chExt cx="1597164" cy="3609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97164" cy="360913"/>
            </a:xfrm>
            <a:custGeom>
              <a:avLst/>
              <a:gdLst/>
              <a:ahLst/>
              <a:cxnLst/>
              <a:rect r="r" b="b" t="t" l="l"/>
              <a:pathLst>
                <a:path h="360913" w="1597164">
                  <a:moveTo>
                    <a:pt x="0" y="0"/>
                  </a:moveTo>
                  <a:lnTo>
                    <a:pt x="1597164" y="0"/>
                  </a:lnTo>
                  <a:lnTo>
                    <a:pt x="1597164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97164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18015" y="-699889"/>
            <a:ext cx="9626215" cy="1370341"/>
            <a:chOff x="0" y="0"/>
            <a:chExt cx="2535300" cy="3609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5300" cy="360913"/>
            </a:xfrm>
            <a:custGeom>
              <a:avLst/>
              <a:gdLst/>
              <a:ahLst/>
              <a:cxnLst/>
              <a:rect r="r" b="b" t="t" l="l"/>
              <a:pathLst>
                <a:path h="360913" w="2535300">
                  <a:moveTo>
                    <a:pt x="0" y="0"/>
                  </a:moveTo>
                  <a:lnTo>
                    <a:pt x="2535300" y="0"/>
                  </a:lnTo>
                  <a:lnTo>
                    <a:pt x="2535300" y="360913"/>
                  </a:lnTo>
                  <a:lnTo>
                    <a:pt x="0" y="360913"/>
                  </a:lnTo>
                  <a:close/>
                </a:path>
              </a:pathLst>
            </a:custGeom>
            <a:solidFill>
              <a:srgbClr val="03438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535300" cy="3990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2396907" y="4778477"/>
            <a:ext cx="4862393" cy="4114800"/>
          </a:xfrm>
          <a:custGeom>
            <a:avLst/>
            <a:gdLst/>
            <a:ahLst/>
            <a:cxnLst/>
            <a:rect r="r" b="b" t="t" l="l"/>
            <a:pathLst>
              <a:path h="4114800" w="4862393">
                <a:moveTo>
                  <a:pt x="0" y="0"/>
                </a:moveTo>
                <a:lnTo>
                  <a:pt x="4862393" y="0"/>
                </a:lnTo>
                <a:lnTo>
                  <a:pt x="4862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674514" y="1585181"/>
            <a:ext cx="15584786" cy="9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EXPECTED ACHIEVEMENTS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9414" y="3554252"/>
            <a:ext cx="11393532" cy="1262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289" indent="-254145" lvl="1">
              <a:lnSpc>
                <a:spcPts val="3295"/>
              </a:lnSpc>
              <a:buFont typeface="Arial"/>
              <a:buChar char="•"/>
            </a:pPr>
            <a:r>
              <a:rPr lang="en-US" b="true" sz="2354">
                <a:solidFill>
                  <a:srgbClr val="034383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Goal:</a:t>
            </a:r>
          </a:p>
          <a:p>
            <a:pPr algn="l" marL="1079502" indent="-359834" lvl="2">
              <a:lnSpc>
                <a:spcPts val="3500"/>
              </a:lnSpc>
              <a:buFont typeface="Arial"/>
              <a:buChar char="⚬"/>
            </a:pPr>
            <a:r>
              <a:rPr lang="en-US" sz="2500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Create a platform that addresses FTT with personalized recommendations and progress tracking.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00138" y="5381830"/>
            <a:ext cx="11955648" cy="3078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034383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Measuring Success</a:t>
            </a:r>
          </a:p>
          <a:p>
            <a:pPr algn="l" marL="1079502" indent="-359834" lvl="2">
              <a:lnSpc>
                <a:spcPts val="3500"/>
              </a:lnSpc>
              <a:buFont typeface="Arial"/>
              <a:buChar char="⚬"/>
            </a:pPr>
            <a:r>
              <a:rPr lang="en-US" b="true" sz="2500">
                <a:solidFill>
                  <a:srgbClr val="0D1D29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Accuracy:</a:t>
            </a:r>
            <a:r>
              <a:rPr lang="en-US" sz="2500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 Test data inputs for children of varying ages and conditions, ensuring tailored and actionable outputs.</a:t>
            </a:r>
          </a:p>
          <a:p>
            <a:pPr algn="l" marL="1079502" indent="-359834" lvl="2">
              <a:lnSpc>
                <a:spcPts val="3500"/>
              </a:lnSpc>
              <a:buFont typeface="Arial"/>
              <a:buChar char="⚬"/>
            </a:pPr>
            <a:r>
              <a:rPr lang="en-US" b="true" sz="2500">
                <a:solidFill>
                  <a:srgbClr val="0D1D29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Usability:</a:t>
            </a:r>
            <a:r>
              <a:rPr lang="en-US" sz="2500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 Collect feedback from users on different devices to improve navigation and accessibility.</a:t>
            </a:r>
          </a:p>
          <a:p>
            <a:pPr algn="l" marL="1079502" indent="-359834" lvl="2">
              <a:lnSpc>
                <a:spcPts val="3500"/>
              </a:lnSpc>
              <a:buFont typeface="Arial"/>
              <a:buChar char="⚬"/>
            </a:pPr>
            <a:r>
              <a:rPr lang="en-US" b="true" sz="2500">
                <a:solidFill>
                  <a:srgbClr val="0D1D29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Engagement:</a:t>
            </a:r>
            <a:r>
              <a:rPr lang="en-US" sz="2500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 Monitor user activity, including the frequency of recommendations used and adjustments made.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69016" y="439761"/>
            <a:ext cx="15584786" cy="185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b="true" sz="6500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EXPECTED CHALLENGES</a:t>
            </a:r>
          </a:p>
          <a:p>
            <a:pPr algn="ctr">
              <a:lnSpc>
                <a:spcPts val="7150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-9581706">
            <a:off x="477855" y="1713567"/>
            <a:ext cx="730089" cy="634998"/>
            <a:chOff x="0" y="0"/>
            <a:chExt cx="473018" cy="41140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73018" cy="411409"/>
            </a:xfrm>
            <a:custGeom>
              <a:avLst/>
              <a:gdLst/>
              <a:ahLst/>
              <a:cxnLst/>
              <a:rect r="r" b="b" t="t" l="l"/>
              <a:pathLst>
                <a:path h="411409" w="473018">
                  <a:moveTo>
                    <a:pt x="0" y="0"/>
                  </a:moveTo>
                  <a:lnTo>
                    <a:pt x="473018" y="0"/>
                  </a:lnTo>
                  <a:lnTo>
                    <a:pt x="473018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4F3F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73018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10800000">
            <a:off x="567737" y="1430460"/>
            <a:ext cx="9247714" cy="1959782"/>
            <a:chOff x="0" y="0"/>
            <a:chExt cx="5991508" cy="12697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991508" cy="1269724"/>
            </a:xfrm>
            <a:custGeom>
              <a:avLst/>
              <a:gdLst/>
              <a:ahLst/>
              <a:cxnLst/>
              <a:rect r="r" b="b" t="t" l="l"/>
              <a:pathLst>
                <a:path h="1269724" w="5991508">
                  <a:moveTo>
                    <a:pt x="0" y="0"/>
                  </a:moveTo>
                  <a:lnTo>
                    <a:pt x="5991508" y="0"/>
                  </a:lnTo>
                  <a:lnTo>
                    <a:pt x="5991508" y="1269724"/>
                  </a:lnTo>
                  <a:lnTo>
                    <a:pt x="0" y="1269724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991508" cy="1307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10800000">
            <a:off x="384178" y="1568378"/>
            <a:ext cx="5337517" cy="634998"/>
            <a:chOff x="0" y="0"/>
            <a:chExt cx="3458127" cy="41140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58127" cy="411409"/>
            </a:xfrm>
            <a:custGeom>
              <a:avLst/>
              <a:gdLst/>
              <a:ahLst/>
              <a:cxnLst/>
              <a:rect r="r" b="b" t="t" l="l"/>
              <a:pathLst>
                <a:path h="411409" w="3458127">
                  <a:moveTo>
                    <a:pt x="0" y="0"/>
                  </a:moveTo>
                  <a:lnTo>
                    <a:pt x="3458127" y="0"/>
                  </a:lnTo>
                  <a:lnTo>
                    <a:pt x="3458127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458127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67737" y="1685991"/>
            <a:ext cx="5410208" cy="106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06" indent="-269853" lvl="1">
              <a:lnSpc>
                <a:spcPts val="2749"/>
              </a:lnSpc>
              <a:buFont typeface="Arial"/>
              <a:buChar char="•"/>
            </a:pPr>
            <a:r>
              <a:rPr lang="en-US" b="true" sz="2499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DATA INTERPRETATION</a:t>
            </a:r>
          </a:p>
          <a:p>
            <a:pPr algn="l">
              <a:lnSpc>
                <a:spcPts val="2749"/>
              </a:lnSpc>
            </a:pPr>
          </a:p>
          <a:p>
            <a:pPr algn="l" marL="0" indent="0" lvl="0">
              <a:lnSpc>
                <a:spcPts val="2749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76804" y="2340134"/>
            <a:ext cx="8965161" cy="963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sz="18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Developing robust methods to accurately read and process diagnostic files.</a:t>
            </a:r>
          </a:p>
          <a:p>
            <a:pPr algn="just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sz="1899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Ensuring the system correctly extracts and utilizes relevant information.</a:t>
            </a:r>
          </a:p>
          <a:p>
            <a:pPr algn="just" marL="0" indent="0" lvl="0">
              <a:lnSpc>
                <a:spcPts val="2412"/>
              </a:lnSpc>
              <a:spcBef>
                <a:spcPct val="0"/>
              </a:spcBef>
            </a:pPr>
          </a:p>
        </p:txBody>
      </p:sp>
      <p:grpSp>
        <p:nvGrpSpPr>
          <p:cNvPr name="Group 14" id="14"/>
          <p:cNvGrpSpPr/>
          <p:nvPr/>
        </p:nvGrpSpPr>
        <p:grpSpPr>
          <a:xfrm rot="-9581706">
            <a:off x="7393881" y="3770106"/>
            <a:ext cx="807667" cy="702471"/>
            <a:chOff x="0" y="0"/>
            <a:chExt cx="473018" cy="41140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73018" cy="411409"/>
            </a:xfrm>
            <a:custGeom>
              <a:avLst/>
              <a:gdLst/>
              <a:ahLst/>
              <a:cxnLst/>
              <a:rect r="r" b="b" t="t" l="l"/>
              <a:pathLst>
                <a:path h="411409" w="473018">
                  <a:moveTo>
                    <a:pt x="0" y="0"/>
                  </a:moveTo>
                  <a:lnTo>
                    <a:pt x="473018" y="0"/>
                  </a:lnTo>
                  <a:lnTo>
                    <a:pt x="473018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20466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473018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-10800000">
            <a:off x="7493314" y="3456917"/>
            <a:ext cx="10230358" cy="2168024"/>
            <a:chOff x="0" y="0"/>
            <a:chExt cx="5991508" cy="126972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91508" cy="1269724"/>
            </a:xfrm>
            <a:custGeom>
              <a:avLst/>
              <a:gdLst/>
              <a:ahLst/>
              <a:cxnLst/>
              <a:rect r="r" b="b" t="t" l="l"/>
              <a:pathLst>
                <a:path h="1269724" w="5991508">
                  <a:moveTo>
                    <a:pt x="0" y="0"/>
                  </a:moveTo>
                  <a:lnTo>
                    <a:pt x="5991508" y="0"/>
                  </a:lnTo>
                  <a:lnTo>
                    <a:pt x="5991508" y="1269724"/>
                  </a:lnTo>
                  <a:lnTo>
                    <a:pt x="0" y="1269724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5991508" cy="1307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10800000">
            <a:off x="7290250" y="3609489"/>
            <a:ext cx="5904670" cy="702471"/>
            <a:chOff x="0" y="0"/>
            <a:chExt cx="3458127" cy="41140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458127" cy="411409"/>
            </a:xfrm>
            <a:custGeom>
              <a:avLst/>
              <a:gdLst/>
              <a:ahLst/>
              <a:cxnLst/>
              <a:rect r="r" b="b" t="t" l="l"/>
              <a:pathLst>
                <a:path h="411409" w="3458127">
                  <a:moveTo>
                    <a:pt x="0" y="0"/>
                  </a:moveTo>
                  <a:lnTo>
                    <a:pt x="3458127" y="0"/>
                  </a:lnTo>
                  <a:lnTo>
                    <a:pt x="3458127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4294CE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458127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303933" y="3735562"/>
            <a:ext cx="8539390" cy="408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7054" indent="-298527" lvl="1">
              <a:lnSpc>
                <a:spcPts val="3041"/>
              </a:lnSpc>
              <a:buFont typeface="Arial"/>
              <a:buChar char="•"/>
            </a:pPr>
            <a:r>
              <a:rPr lang="en-US" b="true" sz="2765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AI INTEGRATION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75705" y="4502829"/>
            <a:ext cx="9917781" cy="137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30211" indent="-215105" lvl="1">
              <a:lnSpc>
                <a:spcPts val="2789"/>
              </a:lnSpc>
              <a:buFont typeface="Arial"/>
              <a:buChar char="•"/>
            </a:pPr>
            <a:r>
              <a:rPr lang="en-US" sz="1992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Establishing seamless communication between the system and AI components.</a:t>
            </a:r>
          </a:p>
          <a:p>
            <a:pPr algn="just" marL="430211" indent="-215105" lvl="1">
              <a:lnSpc>
                <a:spcPts val="2789"/>
              </a:lnSpc>
              <a:buFont typeface="Arial"/>
              <a:buChar char="•"/>
            </a:pPr>
            <a:r>
              <a:rPr lang="en-US" sz="1992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Ensuring consistent, reliable outputs for generating personalized recommendations.</a:t>
            </a:r>
          </a:p>
          <a:p>
            <a:pPr algn="just" marL="0" indent="0" lvl="0">
              <a:lnSpc>
                <a:spcPts val="2789"/>
              </a:lnSpc>
              <a:spcBef>
                <a:spcPct val="0"/>
              </a:spcBef>
            </a:pPr>
          </a:p>
        </p:txBody>
      </p:sp>
      <p:sp>
        <p:nvSpPr>
          <p:cNvPr name="Freeform 25" id="25"/>
          <p:cNvSpPr/>
          <p:nvPr/>
        </p:nvSpPr>
        <p:spPr>
          <a:xfrm flipH="true" flipV="true" rot="0">
            <a:off x="14657615" y="-42342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6" id="26"/>
          <p:cNvGrpSpPr/>
          <p:nvPr/>
        </p:nvGrpSpPr>
        <p:grpSpPr>
          <a:xfrm rot="-9581706">
            <a:off x="659866" y="6055765"/>
            <a:ext cx="718014" cy="624496"/>
            <a:chOff x="0" y="0"/>
            <a:chExt cx="473018" cy="41140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73018" cy="411409"/>
            </a:xfrm>
            <a:custGeom>
              <a:avLst/>
              <a:gdLst/>
              <a:ahLst/>
              <a:cxnLst/>
              <a:rect r="r" b="b" t="t" l="l"/>
              <a:pathLst>
                <a:path h="411409" w="473018">
                  <a:moveTo>
                    <a:pt x="0" y="0"/>
                  </a:moveTo>
                  <a:lnTo>
                    <a:pt x="473018" y="0"/>
                  </a:lnTo>
                  <a:lnTo>
                    <a:pt x="473018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4F3F07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473018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-10800000">
            <a:off x="748261" y="5777341"/>
            <a:ext cx="9302191" cy="1984151"/>
            <a:chOff x="0" y="0"/>
            <a:chExt cx="6128153" cy="130713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128153" cy="1307131"/>
            </a:xfrm>
            <a:custGeom>
              <a:avLst/>
              <a:gdLst/>
              <a:ahLst/>
              <a:cxnLst/>
              <a:rect r="r" b="b" t="t" l="l"/>
              <a:pathLst>
                <a:path h="1307131" w="6128153">
                  <a:moveTo>
                    <a:pt x="0" y="0"/>
                  </a:moveTo>
                  <a:lnTo>
                    <a:pt x="6128153" y="0"/>
                  </a:lnTo>
                  <a:lnTo>
                    <a:pt x="6128153" y="1307131"/>
                  </a:lnTo>
                  <a:lnTo>
                    <a:pt x="0" y="1307131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128153" cy="13452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-10800000">
            <a:off x="567737" y="5912977"/>
            <a:ext cx="5249242" cy="624496"/>
            <a:chOff x="0" y="0"/>
            <a:chExt cx="3458127" cy="41140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458127" cy="411409"/>
            </a:xfrm>
            <a:custGeom>
              <a:avLst/>
              <a:gdLst/>
              <a:ahLst/>
              <a:cxnLst/>
              <a:rect r="r" b="b" t="t" l="l"/>
              <a:pathLst>
                <a:path h="411409" w="3458127">
                  <a:moveTo>
                    <a:pt x="0" y="0"/>
                  </a:moveTo>
                  <a:lnTo>
                    <a:pt x="3458127" y="0"/>
                  </a:lnTo>
                  <a:lnTo>
                    <a:pt x="3458127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FBC61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458127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679540" y="6031141"/>
            <a:ext cx="3746674" cy="105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0780" indent="-265390" lvl="1">
              <a:lnSpc>
                <a:spcPts val="2704"/>
              </a:lnSpc>
              <a:buFont typeface="Arial"/>
              <a:buChar char="•"/>
            </a:pPr>
            <a:r>
              <a:rPr lang="en-US" b="true" sz="2458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DATA SECURITY</a:t>
            </a:r>
          </a:p>
          <a:p>
            <a:pPr algn="l">
              <a:lnSpc>
                <a:spcPts val="2704"/>
              </a:lnSpc>
            </a:pPr>
          </a:p>
          <a:p>
            <a:pPr algn="l" marL="0" indent="0" lvl="0">
              <a:lnSpc>
                <a:spcPts val="2704"/>
              </a:lnSpc>
              <a:spcBef>
                <a:spcPct val="0"/>
              </a:spcBef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43378" y="6618111"/>
            <a:ext cx="9089574" cy="11665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66252" indent="-183126" lvl="1">
              <a:lnSpc>
                <a:spcPts val="2374"/>
              </a:lnSpc>
              <a:buFont typeface="Arial"/>
              <a:buChar char="•"/>
            </a:pPr>
            <a:r>
              <a:rPr lang="en-US" sz="1696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Implementing advanced encryption techniques to safeguard sensitive medical data.</a:t>
            </a:r>
          </a:p>
          <a:p>
            <a:pPr algn="just" marL="366252" indent="-183126" lvl="1">
              <a:lnSpc>
                <a:spcPts val="2374"/>
              </a:lnSpc>
              <a:buFont typeface="Arial"/>
              <a:buChar char="•"/>
            </a:pPr>
            <a:r>
              <a:rPr lang="en-US" sz="1696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Adhering to regulatory standards like GDPR to maintain user trust and legal compliance.</a:t>
            </a:r>
          </a:p>
          <a:p>
            <a:pPr algn="just" marL="0" indent="0" lvl="0">
              <a:lnSpc>
                <a:spcPts val="2374"/>
              </a:lnSpc>
              <a:spcBef>
                <a:spcPct val="0"/>
              </a:spcBef>
            </a:pPr>
          </a:p>
        </p:txBody>
      </p:sp>
      <p:grpSp>
        <p:nvGrpSpPr>
          <p:cNvPr name="Group 37" id="37"/>
          <p:cNvGrpSpPr/>
          <p:nvPr/>
        </p:nvGrpSpPr>
        <p:grpSpPr>
          <a:xfrm rot="-9581706">
            <a:off x="7314169" y="8184061"/>
            <a:ext cx="808827" cy="703481"/>
            <a:chOff x="0" y="0"/>
            <a:chExt cx="473018" cy="41140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73018" cy="411409"/>
            </a:xfrm>
            <a:custGeom>
              <a:avLst/>
              <a:gdLst/>
              <a:ahLst/>
              <a:cxnLst/>
              <a:rect r="r" b="b" t="t" l="l"/>
              <a:pathLst>
                <a:path h="411409" w="473018">
                  <a:moveTo>
                    <a:pt x="0" y="0"/>
                  </a:moveTo>
                  <a:lnTo>
                    <a:pt x="473018" y="0"/>
                  </a:lnTo>
                  <a:lnTo>
                    <a:pt x="473018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204661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73018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-10800000">
            <a:off x="7413745" y="7870422"/>
            <a:ext cx="10245057" cy="2171139"/>
            <a:chOff x="0" y="0"/>
            <a:chExt cx="5991508" cy="126972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991508" cy="1269724"/>
            </a:xfrm>
            <a:custGeom>
              <a:avLst/>
              <a:gdLst/>
              <a:ahLst/>
              <a:cxnLst/>
              <a:rect r="r" b="b" t="t" l="l"/>
              <a:pathLst>
                <a:path h="1269724" w="5991508">
                  <a:moveTo>
                    <a:pt x="0" y="0"/>
                  </a:moveTo>
                  <a:lnTo>
                    <a:pt x="5991508" y="0"/>
                  </a:lnTo>
                  <a:lnTo>
                    <a:pt x="5991508" y="1269724"/>
                  </a:lnTo>
                  <a:lnTo>
                    <a:pt x="0" y="1269724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5991508" cy="1307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-10800000">
            <a:off x="7210389" y="8023214"/>
            <a:ext cx="5913154" cy="703481"/>
            <a:chOff x="0" y="0"/>
            <a:chExt cx="3458127" cy="41140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458127" cy="411409"/>
            </a:xfrm>
            <a:custGeom>
              <a:avLst/>
              <a:gdLst/>
              <a:ahLst/>
              <a:cxnLst/>
              <a:rect r="r" b="b" t="t" l="l"/>
              <a:pathLst>
                <a:path h="411409" w="3458127">
                  <a:moveTo>
                    <a:pt x="0" y="0"/>
                  </a:moveTo>
                  <a:lnTo>
                    <a:pt x="3458127" y="0"/>
                  </a:lnTo>
                  <a:lnTo>
                    <a:pt x="3458127" y="411409"/>
                  </a:lnTo>
                  <a:lnTo>
                    <a:pt x="0" y="411409"/>
                  </a:lnTo>
                  <a:close/>
                </a:path>
              </a:pathLst>
            </a:custGeom>
            <a:solidFill>
              <a:srgbClr val="4294CE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3458127" cy="449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5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7413745" y="8171817"/>
            <a:ext cx="4220544" cy="1176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7912" indent="-298956" lvl="1">
              <a:lnSpc>
                <a:spcPts val="3046"/>
              </a:lnSpc>
              <a:buFont typeface="Arial"/>
              <a:buChar char="•"/>
            </a:pPr>
            <a:r>
              <a:rPr lang="en-US" b="true" sz="2769">
                <a:solidFill>
                  <a:srgbClr val="FFFFFF"/>
                </a:solidFill>
                <a:latin typeface="Ubuntu Bold"/>
                <a:ea typeface="Ubuntu Bold"/>
                <a:cs typeface="Ubuntu Bold"/>
                <a:sym typeface="Ubuntu Bold"/>
              </a:rPr>
              <a:t>USER TRUST</a:t>
            </a:r>
          </a:p>
          <a:p>
            <a:pPr algn="l">
              <a:lnSpc>
                <a:spcPts val="3046"/>
              </a:lnSpc>
            </a:pPr>
          </a:p>
          <a:p>
            <a:pPr algn="l" marL="0" indent="0" lvl="0">
              <a:lnSpc>
                <a:spcPts val="3046"/>
              </a:lnSpc>
              <a:spcBef>
                <a:spcPct val="0"/>
              </a:spcBef>
            </a:pPr>
          </a:p>
        </p:txBody>
      </p:sp>
      <p:sp>
        <p:nvSpPr>
          <p:cNvPr name="TextBox 47" id="47"/>
          <p:cNvSpPr txBox="true"/>
          <p:nvPr/>
        </p:nvSpPr>
        <p:spPr>
          <a:xfrm rot="0">
            <a:off x="7726771" y="8927417"/>
            <a:ext cx="9540512" cy="932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88254" indent="-194127" lvl="1">
              <a:lnSpc>
                <a:spcPts val="2517"/>
              </a:lnSpc>
              <a:spcBef>
                <a:spcPct val="0"/>
              </a:spcBef>
              <a:buFont typeface="Arial"/>
              <a:buChar char="•"/>
            </a:pPr>
            <a:r>
              <a:rPr lang="en-US" sz="1798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Dem</a:t>
            </a:r>
            <a:r>
              <a:rPr lang="en-US" sz="1798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onstrating the system's accuracy and effectiveness through transparent results.</a:t>
            </a:r>
          </a:p>
          <a:p>
            <a:pPr algn="just" marL="388254" indent="-194127" lvl="1">
              <a:lnSpc>
                <a:spcPts val="2517"/>
              </a:lnSpc>
              <a:spcBef>
                <a:spcPct val="0"/>
              </a:spcBef>
              <a:buFont typeface="Arial"/>
              <a:buChar char="•"/>
            </a:pPr>
            <a:r>
              <a:rPr lang="en-US" sz="1798" strike="noStrike" u="none">
                <a:solidFill>
                  <a:srgbClr val="0D1D29"/>
                </a:solidFill>
                <a:latin typeface="Open Sans 1"/>
                <a:ea typeface="Open Sans 1"/>
                <a:cs typeface="Open Sans 1"/>
                <a:sym typeface="Open Sans 1"/>
              </a:rPr>
              <a:t>Providing a user-friendly interface and actionable insights to enhance credibility.</a:t>
            </a:r>
          </a:p>
          <a:p>
            <a:pPr algn="just" marL="0" indent="0" lvl="0">
              <a:lnSpc>
                <a:spcPts val="2517"/>
              </a:lnSpc>
              <a:spcBef>
                <a:spcPct val="0"/>
              </a:spcBef>
            </a:pP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-551090" y="659562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9" id="49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83107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0" y="0"/>
                </a:moveTo>
                <a:lnTo>
                  <a:pt x="9873830" y="0"/>
                </a:lnTo>
                <a:lnTo>
                  <a:pt x="9873830" y="11243492"/>
                </a:lnTo>
                <a:lnTo>
                  <a:pt x="0" y="112434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8414170" y="0"/>
            <a:ext cx="9873830" cy="11243492"/>
          </a:xfrm>
          <a:custGeom>
            <a:avLst/>
            <a:gdLst/>
            <a:ahLst/>
            <a:cxnLst/>
            <a:rect r="r" b="b" t="t" l="l"/>
            <a:pathLst>
              <a:path h="11243492" w="9873830">
                <a:moveTo>
                  <a:pt x="9873830" y="11243492"/>
                </a:moveTo>
                <a:lnTo>
                  <a:pt x="0" y="11243492"/>
                </a:lnTo>
                <a:lnTo>
                  <a:pt x="0" y="0"/>
                </a:lnTo>
                <a:lnTo>
                  <a:pt x="9873830" y="0"/>
                </a:lnTo>
                <a:lnTo>
                  <a:pt x="9873830" y="1124349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182694" y="4305179"/>
            <a:ext cx="11922611" cy="1752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1"/>
              </a:lnSpc>
            </a:pPr>
            <a:r>
              <a:rPr lang="en-US" b="true" sz="12028">
                <a:solidFill>
                  <a:srgbClr val="034383"/>
                </a:solidFill>
                <a:latin typeface="Ubuntu Bold"/>
                <a:ea typeface="Ubuntu Bold"/>
                <a:cs typeface="Ubuntu Bold"/>
                <a:sym typeface="Ubuntu Bold"/>
              </a:rPr>
              <a:t>THANK YOU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182100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>
                <a:solidFill>
                  <a:srgbClr val="000000"/>
                </a:solidFill>
                <a:latin typeface="Suez One"/>
                <a:ea typeface="Suez One"/>
                <a:cs typeface="Suez One"/>
                <a:sym typeface="Suez One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DAGdCXkewg4</dc:identifier>
  <dcterms:modified xsi:type="dcterms:W3CDTF">2011-08-01T06:04:30Z</dcterms:modified>
  <cp:revision>1</cp:revision>
  <dc:title>ThrivePath</dc:title>
</cp:coreProperties>
</file>